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framing this as an engineering decision, not a notation preference. The question is simple: when we send large structured data to models, how much do we pay in tokens, what accuracy do we lose or gain, and what reliability risk do we create downstream? This deck turns the corrected 17-page EMBLEM-NLP research note into a decision path for production prompt and API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executive decision is not “CSV versus JSON” in the abstract. It is whether a format lowers total operating cost once accuracy, parsing, retries, latency, and provider pricing are included. The report gives us three anchor numbers: a 62.9 percent token reduction for CSV versus pretty JSON in one flat benchmark, output multipliers as high as five to six times input, and a complete 12-format accuracy-versus-token comparison from one consistent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audit discipline. The report uses three evidence classes: the TOON flat-data token benchmark, the ImprovingAgents comprehension benchmark, and official provider pricing. The important guardrail is comparability. We only plot paired token and accuracy values from the same benchmark run. That prevents a misleading chart where cheap token counts from one setup are visually compared against accuracy numbers from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operating takeaway. For flat, high-volume inputs, CSV or TSV is the cost floor, and TOON is worth benchmarking when the records are large and uniform. For nested or mixed data, compact JSON is the baseline, not pretty JSON. For output, do not optimize notation until the structured-output baseline is stable. And for every benchmark, preserve the tokenizer, count endpoint, serializer version, payload hash, model, price date, parse-failure rate, and retry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simplest cost story. In the TOON flat-track benchmark, CSV is the lowest token representation. TOON is only six percent larger than CSV and much smaller than compact or pretty JSON. This supports the production rule: for flat uniform tables, use CSV or TSV unless the structure demands more. Also note that XML is expensive here because every field name is duplicated in opening and closing tags.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variable is data shape. CSV and TSV win on flat, uniform rows. TOON can be highly efficient when a repeated object array lets the schema appear once. But compact JSON remains the robust default for mixed, nested, and API-facing data. This is why the report warns against blanket claims like “TOON is always cheaper” or “YAML is more token efficient than 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scatter plot is the key nuance. The cheapest representation is not automatically the best representation. Markdown-KV scored highest on the ImprovingAgents benchmark but was more token-heavy than CSV. CSV was cheapest but scored much lower. The important conclusion is not that Markdown-KV is always best; it is that format familiarity and explicit structure can affect retrieval accuracy enough to offset raw compression.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what turns the report from a narrative into an operational reference. It includes all twelve paired token-and-accuracy values from the same ImprovingAgents setup. For executives, the sentence to remember is: the benchmark demonstrates a real cost-accuracy trade-off, not a universal format ranking. For engineering, it tells us which candidates deserve production-specific replication.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makes the token math intuitive. The same employee record is encoded six ways. CSV has a one-time header and a short row. Compact JSON repeats field keys. Pretty JSON adds whitespace. XML is most verbose because tags appear before and after values. When this repeats across hundreds or thousands of records, the small syntactic differences become material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Provider pricing changes where optimization matters most. On models where output is priced five or six times input, output token reductions appear valuable. But output is also where parse failures and repair loops are most expensive. So the sequencing matters: optimize high-volume input first, then stabilize JSON Schema or strict tool-calling output, and only after that evaluate output notation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baseline trap. “YAML is more efficient than JSON” sounds plausible only until the JSON baseline is named. YAML is smaller than pretty JSON, but larger than compact JSON in the report’s dataset. In production we should minify JSON before evaluating a migration, otherwise we are mostly benchmarking removable whitespace rather than the serialization grammar.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Reliability is the non-negotiable output gate. Modern provider APIs increasingly support constrained JSON generation, which makes JSON the dominant machine-consumed target. CSV, TSV, YAML, and TOON can be useful as inputs, but when the model generates them, delimiter errors, escaping failures, syntax repair, and prompt tax can erase savings. So the recommendation is strict structured output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operational flow. Start with the payload shape: flat and tabular goes to CSV or TSV; large uniform arrays justify a TOON benchmark; mixed or API-facing data defaults to compact JSON. If the model is generating output for another system, use JSON Schema or strict tool calling. Use YAML or TOML when human maintainability is the dominant requirement, not because of a generic token-efficiency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operating plan. We should formalize compact JSON as the default interchange layer, use CSV or TSV for validated flat input, and benchmark TOON only in its strongest zone: large uniform arrays. For output, we standardize on provider-native structured output. Every benchmark should be reproducible and include cost, accuracy, parse failures, retries, latency, and total billed tokens. The strategic point is that notation optimization is valuable, but only after data selection and reliability are under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10652760" y="301752"/>
            <a:ext cx="960120" cy="960120"/>
          </a:xfrm>
          <a:prstGeom prst="rect">
            <a:avLst/>
          </a:prstGeom>
          <a:solidFill>
            <a:srgbClr val="1957D2"/>
          </a:solidFill>
          <a:ln w="12700">
            <a:solidFill>
              <a:srgbClr val="1957D2"/>
            </a:solidFill>
            <a:prstDash val="solid"/>
          </a:ln>
        </p:spPr>
      </p:sp>
      <p:pic>
        <p:nvPicPr>
          <p:cNvPr id="3" name="Image 0" descr="/mnt/data/tokenomics_assets/cover_right.png">    </p:cNvPr>
          <p:cNvPicPr>
            <a:picLocks noChangeAspect="1"/>
          </p:cNvPicPr>
          <p:nvPr/>
        </p:nvPicPr>
        <p:blipFill>
          <a:blip r:embed="rId1"/>
          <a:stretch>
            <a:fillRect/>
          </a:stretch>
        </p:blipFill>
        <p:spPr>
          <a:xfrm>
            <a:off x="6446520" y="0"/>
            <a:ext cx="5742432" cy="6858000"/>
          </a:xfrm>
          <a:prstGeom prst="rect">
            <a:avLst/>
          </a:prstGeom>
        </p:spPr>
      </p:pic>
      <p:sp>
        <p:nvSpPr>
          <p:cNvPr id="4" name="Text 1"/>
          <p:cNvSpPr/>
          <p:nvPr/>
        </p:nvSpPr>
        <p:spPr>
          <a:xfrm>
            <a:off x="621792" y="548640"/>
            <a:ext cx="3840480" cy="228600"/>
          </a:xfrm>
          <a:prstGeom prst="rect">
            <a:avLst/>
          </a:prstGeom>
          <a:noFill/>
          <a:ln/>
        </p:spPr>
        <p:txBody>
          <a:bodyPr wrap="square" lIns="0" tIns="0" rIns="0" bIns="0" rtlCol="0" anchor="ctr"/>
          <a:lstStyle/>
          <a:p>
            <a:pPr indent="0" marL="0">
              <a:buNone/>
            </a:pPr>
            <a:r>
              <a:rPr lang="en-US" sz="950" b="1" dirty="0">
                <a:solidFill>
                  <a:srgbClr val="1957D2"/>
                </a:solidFill>
                <a:latin typeface="Arial" pitchFamily="34" charset="0"/>
                <a:ea typeface="Arial" pitchFamily="34" charset="-122"/>
                <a:cs typeface="Arial" pitchFamily="34" charset="-120"/>
              </a:rPr>
              <a:t>EMBLEM-NLP RESEARCH NOTE</a:t>
            </a:r>
            <a:endParaRPr lang="en-US" sz="950" dirty="0"/>
          </a:p>
        </p:txBody>
      </p:sp>
      <p:sp>
        <p:nvSpPr>
          <p:cNvPr id="5" name="Shape 2"/>
          <p:cNvSpPr/>
          <p:nvPr/>
        </p:nvSpPr>
        <p:spPr>
          <a:xfrm>
            <a:off x="621792" y="896112"/>
            <a:ext cx="731520" cy="0"/>
          </a:xfrm>
          <a:prstGeom prst="line">
            <a:avLst/>
          </a:prstGeom>
          <a:noFill/>
          <a:ln w="25400">
            <a:solidFill>
              <a:srgbClr val="1957D2"/>
            </a:solidFill>
            <a:prstDash val="solid"/>
          </a:ln>
        </p:spPr>
      </p:sp>
      <p:sp>
        <p:nvSpPr>
          <p:cNvPr id="6" name="Text 3"/>
          <p:cNvSpPr/>
          <p:nvPr/>
        </p:nvSpPr>
        <p:spPr>
          <a:xfrm>
            <a:off x="621792" y="1234440"/>
            <a:ext cx="5394960" cy="2468880"/>
          </a:xfrm>
          <a:prstGeom prst="rect">
            <a:avLst/>
          </a:prstGeom>
          <a:noFill/>
          <a:ln/>
        </p:spPr>
        <p:txBody>
          <a:bodyPr wrap="square" lIns="0" tIns="0" rIns="0" bIns="0" rtlCol="0" anchor="ctr">
            <a:normAutofit/>
          </a:bodyPr>
          <a:lstStyle/>
          <a:p>
            <a:pPr indent="0" marL="0">
              <a:buNone/>
            </a:pPr>
            <a:r>
              <a:rPr lang="en-US" sz="3700" b="1" dirty="0">
                <a:solidFill>
                  <a:srgbClr val="111318"/>
                </a:solidFill>
                <a:latin typeface="Arial" pitchFamily="34" charset="0"/>
                <a:ea typeface="Arial" pitchFamily="34" charset="-122"/>
                <a:cs typeface="Arial" pitchFamily="34" charset="-120"/>
              </a:rPr>
              <a:t>The Tokenomics of</a:t>
            </a:r>
            <a:endParaRPr lang="en-US" sz="3700" dirty="0"/>
          </a:p>
          <a:p>
            <a:pPr indent="0" marL="0">
              <a:buNone/>
            </a:pPr>
            <a:r>
              <a:rPr lang="en-US" sz="3700" b="1" dirty="0">
                <a:solidFill>
                  <a:srgbClr val="111318"/>
                </a:solidFill>
                <a:latin typeface="Arial" pitchFamily="34" charset="0"/>
                <a:ea typeface="Arial" pitchFamily="34" charset="-122"/>
                <a:cs typeface="Arial" pitchFamily="34" charset="-120"/>
              </a:rPr>
              <a:t>Data-Serialization</a:t>
            </a:r>
            <a:endParaRPr lang="en-US" sz="3700" dirty="0"/>
          </a:p>
          <a:p>
            <a:pPr indent="0" marL="0">
              <a:buNone/>
            </a:pPr>
            <a:r>
              <a:rPr lang="en-US" sz="3700" b="1" dirty="0">
                <a:solidFill>
                  <a:srgbClr val="111318"/>
                </a:solidFill>
                <a:latin typeface="Arial" pitchFamily="34" charset="0"/>
                <a:ea typeface="Arial" pitchFamily="34" charset="-122"/>
                <a:cs typeface="Arial" pitchFamily="34" charset="-120"/>
              </a:rPr>
              <a:t>Formats</a:t>
            </a:r>
            <a:endParaRPr lang="en-US" sz="3700" dirty="0"/>
          </a:p>
        </p:txBody>
      </p:sp>
      <p:sp>
        <p:nvSpPr>
          <p:cNvPr id="7" name="Text 4"/>
          <p:cNvSpPr/>
          <p:nvPr/>
        </p:nvSpPr>
        <p:spPr>
          <a:xfrm>
            <a:off x="658368" y="4160520"/>
            <a:ext cx="4114800" cy="640080"/>
          </a:xfrm>
          <a:prstGeom prst="rect">
            <a:avLst/>
          </a:prstGeom>
          <a:noFill/>
          <a:ln/>
        </p:spPr>
        <p:txBody>
          <a:bodyPr wrap="square" lIns="635" tIns="635" rIns="635" bIns="635" rtlCol="0" anchor="t">
            <a:normAutofit/>
          </a:bodyPr>
          <a:lstStyle/>
          <a:p>
            <a:pPr indent="0" marL="0">
              <a:buNone/>
            </a:pPr>
            <a:r>
              <a:rPr lang="en-US" sz="1500" dirty="0">
                <a:solidFill>
                  <a:srgbClr val="4E5868"/>
                </a:solidFill>
                <a:latin typeface="Arial" pitchFamily="34" charset="0"/>
                <a:ea typeface="Arial" pitchFamily="34" charset="-122"/>
                <a:cs typeface="Arial" pitchFamily="34" charset="-120"/>
              </a:rPr>
              <a:t>Presentation deck + speaker script</a:t>
            </a:r>
            <a:endParaRPr lang="en-US" sz="1500" dirty="0"/>
          </a:p>
          <a:p>
            <a:pPr indent="0" marL="0">
              <a:buNone/>
            </a:pPr>
            <a:r>
              <a:rPr lang="en-US" sz="1500" dirty="0">
                <a:solidFill>
                  <a:srgbClr val="4E5868"/>
                </a:solidFill>
                <a:latin typeface="Arial" pitchFamily="34" charset="0"/>
                <a:ea typeface="Arial" pitchFamily="34" charset="-122"/>
                <a:cs typeface="Arial" pitchFamily="34" charset="-120"/>
              </a:rPr>
              <a:t>June 2026 · Rev 2.1</a:t>
            </a:r>
            <a:endParaRPr lang="en-US" sz="1500" dirty="0"/>
          </a:p>
        </p:txBody>
      </p:sp>
      <p:sp>
        <p:nvSpPr>
          <p:cNvPr id="8" name="Text 5"/>
          <p:cNvSpPr/>
          <p:nvPr/>
        </p:nvSpPr>
        <p:spPr>
          <a:xfrm>
            <a:off x="658368" y="5074920"/>
            <a:ext cx="4754880" cy="566928"/>
          </a:xfrm>
          <a:prstGeom prst="rect">
            <a:avLst/>
          </a:prstGeom>
          <a:noFill/>
          <a:ln/>
        </p:spPr>
        <p:txBody>
          <a:bodyPr wrap="square" lIns="0" tIns="0" rIns="0" bIns="0" rtlCol="0" anchor="ctr">
            <a:normAutofit/>
          </a:bodyPr>
          <a:lstStyle/>
          <a:p>
            <a:pPr indent="0" marL="0">
              <a:buNone/>
            </a:pPr>
            <a:r>
              <a:rPr lang="en-US" sz="1350" dirty="0">
                <a:solidFill>
                  <a:srgbClr val="4E5868"/>
                </a:solidFill>
                <a:latin typeface="Arial" pitchFamily="34" charset="0"/>
                <a:ea typeface="Arial" pitchFamily="34" charset="-122"/>
                <a:cs typeface="Arial" pitchFamily="34" charset="-120"/>
              </a:rPr>
              <a:t>Cross-provider engineering reference to serialization-format efficiency, tokenizer behavior, pricing, and reliability.</a:t>
            </a:r>
            <a:endParaRPr lang="en-US" sz="1350" dirty="0"/>
          </a:p>
        </p:txBody>
      </p:sp>
      <p:sp>
        <p:nvSpPr>
          <p:cNvPr id="9" name="Shape 6"/>
          <p:cNvSpPr/>
          <p:nvPr/>
        </p:nvSpPr>
        <p:spPr>
          <a:xfrm>
            <a:off x="594360" y="6428232"/>
            <a:ext cx="10835640" cy="0"/>
          </a:xfrm>
          <a:prstGeom prst="line">
            <a:avLst/>
          </a:prstGeom>
          <a:noFill/>
          <a:ln w="8890">
            <a:solidFill>
              <a:srgbClr val="CBD3DF"/>
            </a:solidFill>
            <a:prstDash val="solid"/>
          </a:ln>
        </p:spPr>
      </p:sp>
      <p:pic>
        <p:nvPicPr>
          <p:cNvPr id="10" name="Image 1" descr="/mnt/data/tokenomics_assets/logo_footer.png">    </p:cNvPr>
          <p:cNvPicPr>
            <a:picLocks noChangeAspect="1"/>
          </p:cNvPicPr>
          <p:nvPr/>
        </p:nvPicPr>
        <p:blipFill>
          <a:blip r:embed="rId2"/>
          <a:stretch>
            <a:fillRect/>
          </a:stretch>
        </p:blipFill>
        <p:spPr>
          <a:xfrm>
            <a:off x="865280" y="6510528"/>
            <a:ext cx="820615" cy="228600"/>
          </a:xfrm>
          <a:prstGeom prst="rect">
            <a:avLst/>
          </a:prstGeom>
        </p:spPr>
      </p:pic>
      <p:sp>
        <p:nvSpPr>
          <p:cNvPr id="11" name="Text 7"/>
          <p:cNvSpPr/>
          <p:nvPr/>
        </p:nvSpPr>
        <p:spPr>
          <a:xfrm>
            <a:off x="2057400" y="6510528"/>
            <a:ext cx="3931920" cy="182880"/>
          </a:xfrm>
          <a:prstGeom prst="rect">
            <a:avLst/>
          </a:prstGeom>
          <a:noFill/>
          <a:ln/>
        </p:spPr>
        <p:txBody>
          <a:bodyPr wrap="square" lIns="0" tIns="0" rIns="0" bIns="0" rtlCol="0" anchor="ctr"/>
          <a:lstStyle/>
          <a:p>
            <a:pPr indent="0" marL="0">
              <a:buNone/>
            </a:pPr>
            <a:r>
              <a:rPr lang="en-US" sz="750" dirty="0">
                <a:solidFill>
                  <a:srgbClr val="6B7280"/>
                </a:solidFill>
                <a:latin typeface="Arial" pitchFamily="34" charset="0"/>
                <a:ea typeface="Arial" pitchFamily="34" charset="-122"/>
                <a:cs typeface="Arial" pitchFamily="34" charset="-120"/>
              </a:rPr>
              <a:t>Prompt Ecology, Reverse Engineering —Embodied Agencies</a:t>
            </a:r>
            <a:endParaRPr lang="en-US" sz="750" dirty="0"/>
          </a:p>
        </p:txBody>
      </p:sp>
      <p:sp>
        <p:nvSpPr>
          <p:cNvPr id="12" name="Text 8"/>
          <p:cNvSpPr/>
          <p:nvPr/>
        </p:nvSpPr>
        <p:spPr>
          <a:xfrm>
            <a:off x="11064240" y="6473952"/>
            <a:ext cx="548640" cy="228600"/>
          </a:xfrm>
          <a:prstGeom prst="rect">
            <a:avLst/>
          </a:prstGeom>
          <a:noFill/>
          <a:ln/>
        </p:spPr>
        <p:txBody>
          <a:bodyPr wrap="square" lIns="0" tIns="0" rIns="0" bIns="0" rtlCol="0" anchor="ctr"/>
          <a:lstStyle/>
          <a:p>
            <a:pPr algn="r" indent="0" marL="0">
              <a:buNone/>
            </a:pPr>
            <a:r>
              <a:rPr lang="en-US" sz="850" b="1" dirty="0">
                <a:solidFill>
                  <a:srgbClr val="1957D2"/>
                </a:solidFill>
                <a:latin typeface="Arial" pitchFamily="34" charset="0"/>
                <a:ea typeface="Arial" pitchFamily="34" charset="-122"/>
                <a:cs typeface="Arial" pitchFamily="34" charset="-120"/>
              </a:rPr>
              <a:t>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10652760" y="301752"/>
            <a:ext cx="960120" cy="960120"/>
          </a:xfrm>
          <a:prstGeom prst="rect">
            <a:avLst/>
          </a:prstGeom>
          <a:solidFill>
            <a:srgbClr val="1957D2"/>
          </a:solidFill>
          <a:ln w="12700">
            <a:solidFill>
              <a:srgbClr val="1957D2"/>
            </a:solidFill>
            <a:prstDash val="solid"/>
          </a:ln>
        </p:spPr>
      </p:sp>
      <p:sp>
        <p:nvSpPr>
          <p:cNvPr id="3" name="Text 1"/>
          <p:cNvSpPr/>
          <p:nvPr/>
        </p:nvSpPr>
        <p:spPr>
          <a:xfrm>
            <a:off x="621792" y="548640"/>
            <a:ext cx="3840480" cy="228600"/>
          </a:xfrm>
          <a:prstGeom prst="rect">
            <a:avLst/>
          </a:prstGeom>
          <a:noFill/>
          <a:ln/>
        </p:spPr>
        <p:txBody>
          <a:bodyPr wrap="square" lIns="0" tIns="0" rIns="0" bIns="0" rtlCol="0" anchor="ctr"/>
          <a:lstStyle/>
          <a:p>
            <a:pPr indent="0" marL="0">
              <a:buNone/>
            </a:pPr>
            <a:r>
              <a:rPr lang="en-US" sz="950" b="1" dirty="0">
                <a:solidFill>
                  <a:srgbClr val="1957D2"/>
                </a:solidFill>
                <a:latin typeface="Arial" pitchFamily="34" charset="0"/>
                <a:ea typeface="Arial" pitchFamily="34" charset="-122"/>
                <a:cs typeface="Arial" pitchFamily="34" charset="-120"/>
              </a:rPr>
              <a:t>PRESENTATION FRAME</a:t>
            </a:r>
            <a:endParaRPr lang="en-US" sz="950" dirty="0"/>
          </a:p>
        </p:txBody>
      </p:sp>
      <p:sp>
        <p:nvSpPr>
          <p:cNvPr id="4" name="Shape 2"/>
          <p:cNvSpPr/>
          <p:nvPr/>
        </p:nvSpPr>
        <p:spPr>
          <a:xfrm>
            <a:off x="621792" y="896112"/>
            <a:ext cx="731520" cy="0"/>
          </a:xfrm>
          <a:prstGeom prst="line">
            <a:avLst/>
          </a:prstGeom>
          <a:noFill/>
          <a:ln w="25400">
            <a:solidFill>
              <a:srgbClr val="1957D2"/>
            </a:solidFill>
            <a:prstDash val="solid"/>
          </a:ln>
        </p:spPr>
      </p:sp>
      <p:sp>
        <p:nvSpPr>
          <p:cNvPr id="5" name="Text 3"/>
          <p:cNvSpPr/>
          <p:nvPr/>
        </p:nvSpPr>
        <p:spPr>
          <a:xfrm>
            <a:off x="621792" y="1005840"/>
            <a:ext cx="7040880" cy="384048"/>
          </a:xfrm>
          <a:prstGeom prst="rect">
            <a:avLst/>
          </a:prstGeom>
          <a:noFill/>
          <a:ln/>
        </p:spPr>
        <p:txBody>
          <a:bodyPr wrap="square" lIns="0" tIns="0" rIns="0" bIns="0" rtlCol="0" anchor="ctr">
            <a:normAutofit/>
          </a:bodyPr>
          <a:lstStyle/>
          <a:p>
            <a:pPr indent="0" marL="0">
              <a:buNone/>
            </a:pPr>
            <a:r>
              <a:rPr lang="en-US" sz="3100" b="1" dirty="0">
                <a:solidFill>
                  <a:srgbClr val="111318"/>
                </a:solidFill>
                <a:latin typeface="Arial" pitchFamily="34" charset="0"/>
                <a:ea typeface="Arial" pitchFamily="34" charset="-122"/>
                <a:cs typeface="Arial" pitchFamily="34" charset="-120"/>
              </a:rPr>
              <a:t>The executive question</a:t>
            </a:r>
            <a:endParaRPr lang="en-US" sz="3100" dirty="0"/>
          </a:p>
        </p:txBody>
      </p:sp>
      <p:sp>
        <p:nvSpPr>
          <p:cNvPr id="6" name="Text 4"/>
          <p:cNvSpPr/>
          <p:nvPr/>
        </p:nvSpPr>
        <p:spPr>
          <a:xfrm>
            <a:off x="658368" y="2057400"/>
            <a:ext cx="5577840" cy="914400"/>
          </a:xfrm>
          <a:prstGeom prst="rect">
            <a:avLst/>
          </a:prstGeom>
          <a:noFill/>
          <a:ln/>
        </p:spPr>
        <p:txBody>
          <a:bodyPr wrap="square" lIns="635" tIns="635" rIns="635" bIns="635" rtlCol="0" anchor="t">
            <a:normAutofit/>
          </a:bodyPr>
          <a:lstStyle/>
          <a:p>
            <a:pPr indent="0" marL="0">
              <a:buNone/>
            </a:pPr>
            <a:r>
              <a:rPr lang="en-US" sz="1700" dirty="0">
                <a:solidFill>
                  <a:srgbClr val="4E5868"/>
                </a:solidFill>
                <a:latin typeface="Arial" pitchFamily="34" charset="0"/>
                <a:ea typeface="Arial" pitchFamily="34" charset="-122"/>
                <a:cs typeface="Arial" pitchFamily="34" charset="-120"/>
              </a:rPr>
              <a:t>Serialization looks like syntax, but in AI systems it becomes unit economics: every repeated key, delimiter, newline, tag, and repair loop becomes billed context.</a:t>
            </a:r>
            <a:endParaRPr lang="en-US" sz="1700" dirty="0"/>
          </a:p>
        </p:txBody>
      </p:sp>
      <p:sp>
        <p:nvSpPr>
          <p:cNvPr id="7" name="Text 5"/>
          <p:cNvSpPr/>
          <p:nvPr/>
        </p:nvSpPr>
        <p:spPr>
          <a:xfrm>
            <a:off x="6583680" y="1600200"/>
            <a:ext cx="1874520" cy="201168"/>
          </a:xfrm>
          <a:prstGeom prst="rect">
            <a:avLst/>
          </a:prstGeom>
          <a:noFill/>
          <a:ln/>
        </p:spPr>
        <p:txBody>
          <a:bodyPr wrap="square" lIns="0" tIns="0" rIns="0" bIns="0" rtlCol="0" anchor="ctr"/>
          <a:lstStyle/>
          <a:p>
            <a:pPr indent="0" marL="0">
              <a:buNone/>
            </a:pPr>
            <a:r>
              <a:rPr lang="en-US" sz="780" b="1" dirty="0">
                <a:solidFill>
                  <a:srgbClr val="4E5868"/>
                </a:solidFill>
                <a:latin typeface="Arial" pitchFamily="34" charset="0"/>
                <a:ea typeface="Arial" pitchFamily="34" charset="-122"/>
                <a:cs typeface="Arial" pitchFamily="34" charset="-120"/>
              </a:rPr>
              <a:t>COST PRESSURE</a:t>
            </a:r>
            <a:endParaRPr lang="en-US" sz="780" dirty="0"/>
          </a:p>
        </p:txBody>
      </p:sp>
      <p:sp>
        <p:nvSpPr>
          <p:cNvPr id="8" name="Text 6"/>
          <p:cNvSpPr/>
          <p:nvPr/>
        </p:nvSpPr>
        <p:spPr>
          <a:xfrm>
            <a:off x="6583680" y="1874520"/>
            <a:ext cx="1874520" cy="384048"/>
          </a:xfrm>
          <a:prstGeom prst="rect">
            <a:avLst/>
          </a:prstGeom>
          <a:noFill/>
          <a:ln/>
        </p:spPr>
        <p:txBody>
          <a:bodyPr wrap="square" lIns="0" tIns="0" rIns="0" bIns="0" rtlCol="0" anchor="ctr">
            <a:normAutofit/>
          </a:bodyPr>
          <a:lstStyle/>
          <a:p>
            <a:pPr indent="0" marL="0">
              <a:buNone/>
            </a:pPr>
            <a:r>
              <a:rPr lang="en-US" sz="2600" b="1" dirty="0">
                <a:solidFill>
                  <a:srgbClr val="1957D2"/>
                </a:solidFill>
                <a:latin typeface="Arial" pitchFamily="34" charset="0"/>
                <a:ea typeface="Arial" pitchFamily="34" charset="-122"/>
                <a:cs typeface="Arial" pitchFamily="34" charset="-120"/>
              </a:rPr>
              <a:t>63%</a:t>
            </a:r>
            <a:endParaRPr lang="en-US" sz="2600" dirty="0"/>
          </a:p>
        </p:txBody>
      </p:sp>
      <p:sp>
        <p:nvSpPr>
          <p:cNvPr id="9" name="Shape 7"/>
          <p:cNvSpPr/>
          <p:nvPr/>
        </p:nvSpPr>
        <p:spPr>
          <a:xfrm>
            <a:off x="6583680" y="2350008"/>
            <a:ext cx="1371600" cy="0"/>
          </a:xfrm>
          <a:prstGeom prst="line">
            <a:avLst/>
          </a:prstGeom>
          <a:noFill/>
          <a:ln w="15240">
            <a:solidFill>
              <a:srgbClr val="1957D2"/>
            </a:solidFill>
            <a:prstDash val="solid"/>
          </a:ln>
        </p:spPr>
      </p:sp>
      <p:sp>
        <p:nvSpPr>
          <p:cNvPr id="10" name="Text 8"/>
          <p:cNvSpPr/>
          <p:nvPr/>
        </p:nvSpPr>
        <p:spPr>
          <a:xfrm>
            <a:off x="6583680" y="2478024"/>
            <a:ext cx="1874520" cy="475488"/>
          </a:xfrm>
          <a:prstGeom prst="rect">
            <a:avLst/>
          </a:prstGeom>
          <a:noFill/>
          <a:ln/>
        </p:spPr>
        <p:txBody>
          <a:bodyPr wrap="square" lIns="254" tIns="254" rIns="254" bIns="254" rtlCol="0" anchor="ctr">
            <a:normAutofit/>
          </a:bodyPr>
          <a:lstStyle/>
          <a:p>
            <a:pPr indent="0" marL="0">
              <a:buNone/>
            </a:pPr>
            <a:r>
              <a:rPr lang="en-US" sz="1070" dirty="0">
                <a:solidFill>
                  <a:srgbClr val="4E5868"/>
                </a:solidFill>
                <a:latin typeface="Arial" pitchFamily="34" charset="0"/>
                <a:ea typeface="Arial" pitchFamily="34" charset="-122"/>
                <a:cs typeface="Arial" pitchFamily="34" charset="-120"/>
              </a:rPr>
              <a:t>CSV used 62.9% fewer tokens than pretty JSON in the flat TOON benchmark.</a:t>
            </a:r>
            <a:endParaRPr lang="en-US" sz="1070" dirty="0"/>
          </a:p>
        </p:txBody>
      </p:sp>
      <p:sp>
        <p:nvSpPr>
          <p:cNvPr id="11" name="Text 9"/>
          <p:cNvSpPr/>
          <p:nvPr/>
        </p:nvSpPr>
        <p:spPr>
          <a:xfrm>
            <a:off x="8732520" y="1600200"/>
            <a:ext cx="1874520" cy="201168"/>
          </a:xfrm>
          <a:prstGeom prst="rect">
            <a:avLst/>
          </a:prstGeom>
          <a:noFill/>
          <a:ln/>
        </p:spPr>
        <p:txBody>
          <a:bodyPr wrap="square" lIns="0" tIns="0" rIns="0" bIns="0" rtlCol="0" anchor="ctr"/>
          <a:lstStyle/>
          <a:p>
            <a:pPr indent="0" marL="0">
              <a:buNone/>
            </a:pPr>
            <a:r>
              <a:rPr lang="en-US" sz="780" b="1" dirty="0">
                <a:solidFill>
                  <a:srgbClr val="4E5868"/>
                </a:solidFill>
                <a:latin typeface="Arial" pitchFamily="34" charset="0"/>
                <a:ea typeface="Arial" pitchFamily="34" charset="-122"/>
                <a:cs typeface="Arial" pitchFamily="34" charset="-120"/>
              </a:rPr>
              <a:t>PRICING LEVERAGE</a:t>
            </a:r>
            <a:endParaRPr lang="en-US" sz="780" dirty="0"/>
          </a:p>
        </p:txBody>
      </p:sp>
      <p:sp>
        <p:nvSpPr>
          <p:cNvPr id="12" name="Text 10"/>
          <p:cNvSpPr/>
          <p:nvPr/>
        </p:nvSpPr>
        <p:spPr>
          <a:xfrm>
            <a:off x="8732520" y="1874520"/>
            <a:ext cx="1874520" cy="384048"/>
          </a:xfrm>
          <a:prstGeom prst="rect">
            <a:avLst/>
          </a:prstGeom>
          <a:noFill/>
          <a:ln/>
        </p:spPr>
        <p:txBody>
          <a:bodyPr wrap="square" lIns="0" tIns="0" rIns="0" bIns="0" rtlCol="0" anchor="ctr">
            <a:normAutofit/>
          </a:bodyPr>
          <a:lstStyle/>
          <a:p>
            <a:pPr indent="0" marL="0">
              <a:buNone/>
            </a:pPr>
            <a:r>
              <a:rPr lang="en-US" sz="2600" b="1" dirty="0">
                <a:solidFill>
                  <a:srgbClr val="C94905"/>
                </a:solidFill>
                <a:latin typeface="Arial" pitchFamily="34" charset="0"/>
                <a:ea typeface="Arial" pitchFamily="34" charset="-122"/>
                <a:cs typeface="Arial" pitchFamily="34" charset="-120"/>
              </a:rPr>
              <a:t>5–6×</a:t>
            </a:r>
            <a:endParaRPr lang="en-US" sz="2600" dirty="0"/>
          </a:p>
        </p:txBody>
      </p:sp>
      <p:sp>
        <p:nvSpPr>
          <p:cNvPr id="13" name="Shape 11"/>
          <p:cNvSpPr/>
          <p:nvPr/>
        </p:nvSpPr>
        <p:spPr>
          <a:xfrm>
            <a:off x="8732520" y="2350008"/>
            <a:ext cx="1371600" cy="0"/>
          </a:xfrm>
          <a:prstGeom prst="line">
            <a:avLst/>
          </a:prstGeom>
          <a:noFill/>
          <a:ln w="15240">
            <a:solidFill>
              <a:srgbClr val="C94905"/>
            </a:solidFill>
            <a:prstDash val="solid"/>
          </a:ln>
        </p:spPr>
      </p:sp>
      <p:sp>
        <p:nvSpPr>
          <p:cNvPr id="14" name="Text 12"/>
          <p:cNvSpPr/>
          <p:nvPr/>
        </p:nvSpPr>
        <p:spPr>
          <a:xfrm>
            <a:off x="8732520" y="2478024"/>
            <a:ext cx="1874520" cy="475488"/>
          </a:xfrm>
          <a:prstGeom prst="rect">
            <a:avLst/>
          </a:prstGeom>
          <a:noFill/>
          <a:ln/>
        </p:spPr>
        <p:txBody>
          <a:bodyPr wrap="square" lIns="254" tIns="254" rIns="254" bIns="254" rtlCol="0" anchor="ctr">
            <a:normAutofit/>
          </a:bodyPr>
          <a:lstStyle/>
          <a:p>
            <a:pPr indent="0" marL="0">
              <a:buNone/>
            </a:pPr>
            <a:r>
              <a:rPr lang="en-US" sz="1070" dirty="0">
                <a:solidFill>
                  <a:srgbClr val="4E5868"/>
                </a:solidFill>
                <a:latin typeface="Arial" pitchFamily="34" charset="0"/>
                <a:ea typeface="Arial" pitchFamily="34" charset="-122"/>
                <a:cs typeface="Arial" pitchFamily="34" charset="-120"/>
              </a:rPr>
              <a:t>Output tokens cost five to six times input on representative flagship models.</a:t>
            </a:r>
            <a:endParaRPr lang="en-US" sz="1070" dirty="0"/>
          </a:p>
        </p:txBody>
      </p:sp>
      <p:sp>
        <p:nvSpPr>
          <p:cNvPr id="15" name="Text 13"/>
          <p:cNvSpPr/>
          <p:nvPr/>
        </p:nvSpPr>
        <p:spPr>
          <a:xfrm>
            <a:off x="6583680" y="3337560"/>
            <a:ext cx="1874520" cy="201168"/>
          </a:xfrm>
          <a:prstGeom prst="rect">
            <a:avLst/>
          </a:prstGeom>
          <a:noFill/>
          <a:ln/>
        </p:spPr>
        <p:txBody>
          <a:bodyPr wrap="square" lIns="0" tIns="0" rIns="0" bIns="0" rtlCol="0" anchor="ctr"/>
          <a:lstStyle/>
          <a:p>
            <a:pPr indent="0" marL="0">
              <a:buNone/>
            </a:pPr>
            <a:r>
              <a:rPr lang="en-US" sz="780" b="1" dirty="0">
                <a:solidFill>
                  <a:srgbClr val="4E5868"/>
                </a:solidFill>
                <a:latin typeface="Arial" pitchFamily="34" charset="0"/>
                <a:ea typeface="Arial" pitchFamily="34" charset="-122"/>
                <a:cs typeface="Arial" pitchFamily="34" charset="-120"/>
              </a:rPr>
              <a:t>BENCHMARK SCOPE</a:t>
            </a:r>
            <a:endParaRPr lang="en-US" sz="780" dirty="0"/>
          </a:p>
        </p:txBody>
      </p:sp>
      <p:sp>
        <p:nvSpPr>
          <p:cNvPr id="16" name="Text 14"/>
          <p:cNvSpPr/>
          <p:nvPr/>
        </p:nvSpPr>
        <p:spPr>
          <a:xfrm>
            <a:off x="6583680" y="3611880"/>
            <a:ext cx="1874520" cy="384048"/>
          </a:xfrm>
          <a:prstGeom prst="rect">
            <a:avLst/>
          </a:prstGeom>
          <a:noFill/>
          <a:ln/>
        </p:spPr>
        <p:txBody>
          <a:bodyPr wrap="square" lIns="0" tIns="0" rIns="0" bIns="0" rtlCol="0" anchor="ctr">
            <a:normAutofit/>
          </a:bodyPr>
          <a:lstStyle/>
          <a:p>
            <a:pPr indent="0" marL="0">
              <a:buNone/>
            </a:pPr>
            <a:r>
              <a:rPr lang="en-US" sz="2600" b="1" dirty="0">
                <a:solidFill>
                  <a:srgbClr val="1957D2"/>
                </a:solidFill>
                <a:latin typeface="Arial" pitchFamily="34" charset="0"/>
                <a:ea typeface="Arial" pitchFamily="34" charset="-122"/>
                <a:cs typeface="Arial" pitchFamily="34" charset="-120"/>
              </a:rPr>
              <a:t>12</a:t>
            </a:r>
            <a:endParaRPr lang="en-US" sz="2600" dirty="0"/>
          </a:p>
        </p:txBody>
      </p:sp>
      <p:sp>
        <p:nvSpPr>
          <p:cNvPr id="17" name="Shape 15"/>
          <p:cNvSpPr/>
          <p:nvPr/>
        </p:nvSpPr>
        <p:spPr>
          <a:xfrm>
            <a:off x="6583680" y="4087368"/>
            <a:ext cx="1371600" cy="0"/>
          </a:xfrm>
          <a:prstGeom prst="line">
            <a:avLst/>
          </a:prstGeom>
          <a:noFill/>
          <a:ln w="15240">
            <a:solidFill>
              <a:srgbClr val="1957D2"/>
            </a:solidFill>
            <a:prstDash val="solid"/>
          </a:ln>
        </p:spPr>
      </p:sp>
      <p:sp>
        <p:nvSpPr>
          <p:cNvPr id="18" name="Text 16"/>
          <p:cNvSpPr/>
          <p:nvPr/>
        </p:nvSpPr>
        <p:spPr>
          <a:xfrm>
            <a:off x="6583680" y="4215384"/>
            <a:ext cx="1874520" cy="475488"/>
          </a:xfrm>
          <a:prstGeom prst="rect">
            <a:avLst/>
          </a:prstGeom>
          <a:noFill/>
          <a:ln/>
        </p:spPr>
        <p:txBody>
          <a:bodyPr wrap="square" lIns="254" tIns="254" rIns="254" bIns="254" rtlCol="0" anchor="ctr">
            <a:normAutofit/>
          </a:bodyPr>
          <a:lstStyle/>
          <a:p>
            <a:pPr indent="0" marL="0">
              <a:buNone/>
            </a:pPr>
            <a:r>
              <a:rPr lang="en-US" sz="1070" dirty="0">
                <a:solidFill>
                  <a:srgbClr val="4E5868"/>
                </a:solidFill>
                <a:latin typeface="Arial" pitchFamily="34" charset="0"/>
                <a:ea typeface="Arial" pitchFamily="34" charset="-122"/>
                <a:cs typeface="Arial" pitchFamily="34" charset="-120"/>
              </a:rPr>
              <a:t>Figure 2 uses a complete 12-format, internally consistent benchmark setup.</a:t>
            </a:r>
            <a:endParaRPr lang="en-US" sz="1070" dirty="0"/>
          </a:p>
        </p:txBody>
      </p:sp>
      <p:sp>
        <p:nvSpPr>
          <p:cNvPr id="19" name="Text 17"/>
          <p:cNvSpPr/>
          <p:nvPr/>
        </p:nvSpPr>
        <p:spPr>
          <a:xfrm>
            <a:off x="8732520" y="3337560"/>
            <a:ext cx="1874520" cy="201168"/>
          </a:xfrm>
          <a:prstGeom prst="rect">
            <a:avLst/>
          </a:prstGeom>
          <a:noFill/>
          <a:ln/>
        </p:spPr>
        <p:txBody>
          <a:bodyPr wrap="square" lIns="0" tIns="0" rIns="0" bIns="0" rtlCol="0" anchor="ctr"/>
          <a:lstStyle/>
          <a:p>
            <a:pPr indent="0" marL="0">
              <a:buNone/>
            </a:pPr>
            <a:r>
              <a:rPr lang="en-US" sz="780" b="1" dirty="0">
                <a:solidFill>
                  <a:srgbClr val="4E5868"/>
                </a:solidFill>
                <a:latin typeface="Arial" pitchFamily="34" charset="0"/>
                <a:ea typeface="Arial" pitchFamily="34" charset="-122"/>
                <a:cs typeface="Arial" pitchFamily="34" charset="-120"/>
              </a:rPr>
              <a:t>CORE WARNING</a:t>
            </a:r>
            <a:endParaRPr lang="en-US" sz="780" dirty="0"/>
          </a:p>
        </p:txBody>
      </p:sp>
      <p:sp>
        <p:nvSpPr>
          <p:cNvPr id="20" name="Text 18"/>
          <p:cNvSpPr/>
          <p:nvPr/>
        </p:nvSpPr>
        <p:spPr>
          <a:xfrm>
            <a:off x="8732520" y="3611880"/>
            <a:ext cx="1874520" cy="384048"/>
          </a:xfrm>
          <a:prstGeom prst="rect">
            <a:avLst/>
          </a:prstGeom>
          <a:noFill/>
          <a:ln/>
        </p:spPr>
        <p:txBody>
          <a:bodyPr wrap="square" lIns="0" tIns="0" rIns="0" bIns="0" rtlCol="0" anchor="ctr">
            <a:normAutofit/>
          </a:bodyPr>
          <a:lstStyle/>
          <a:p>
            <a:pPr indent="0" marL="0">
              <a:buNone/>
            </a:pPr>
            <a:r>
              <a:rPr lang="en-US" sz="2600" b="1" dirty="0">
                <a:solidFill>
                  <a:srgbClr val="1F7B59"/>
                </a:solidFill>
                <a:latin typeface="Arial" pitchFamily="34" charset="0"/>
                <a:ea typeface="Arial" pitchFamily="34" charset="-122"/>
                <a:cs typeface="Arial" pitchFamily="34" charset="-120"/>
              </a:rPr>
              <a:t>Shape</a:t>
            </a:r>
            <a:endParaRPr lang="en-US" sz="2600" dirty="0"/>
          </a:p>
        </p:txBody>
      </p:sp>
      <p:sp>
        <p:nvSpPr>
          <p:cNvPr id="21" name="Shape 19"/>
          <p:cNvSpPr/>
          <p:nvPr/>
        </p:nvSpPr>
        <p:spPr>
          <a:xfrm>
            <a:off x="8732520" y="4087368"/>
            <a:ext cx="1371600" cy="0"/>
          </a:xfrm>
          <a:prstGeom prst="line">
            <a:avLst/>
          </a:prstGeom>
          <a:noFill/>
          <a:ln w="15240">
            <a:solidFill>
              <a:srgbClr val="1F7B59"/>
            </a:solidFill>
            <a:prstDash val="solid"/>
          </a:ln>
        </p:spPr>
      </p:sp>
      <p:sp>
        <p:nvSpPr>
          <p:cNvPr id="22" name="Text 20"/>
          <p:cNvSpPr/>
          <p:nvPr/>
        </p:nvSpPr>
        <p:spPr>
          <a:xfrm>
            <a:off x="8732520" y="4215384"/>
            <a:ext cx="1874520" cy="475488"/>
          </a:xfrm>
          <a:prstGeom prst="rect">
            <a:avLst/>
          </a:prstGeom>
          <a:noFill/>
          <a:ln/>
        </p:spPr>
        <p:txBody>
          <a:bodyPr wrap="square" lIns="254" tIns="254" rIns="254" bIns="254" rtlCol="0" anchor="ctr">
            <a:normAutofit/>
          </a:bodyPr>
          <a:lstStyle/>
          <a:p>
            <a:pPr indent="0" marL="0">
              <a:buNone/>
            </a:pPr>
            <a:r>
              <a:rPr lang="en-US" sz="1070" dirty="0">
                <a:solidFill>
                  <a:srgbClr val="4E5868"/>
                </a:solidFill>
                <a:latin typeface="Arial" pitchFamily="34" charset="0"/>
                <a:ea typeface="Arial" pitchFamily="34" charset="-122"/>
                <a:cs typeface="Arial" pitchFamily="34" charset="-120"/>
              </a:rPr>
              <a:t>The right format depends on data shape, usage context, and validation requirements.</a:t>
            </a:r>
            <a:endParaRPr lang="en-US" sz="1070" dirty="0"/>
          </a:p>
        </p:txBody>
      </p:sp>
      <p:sp>
        <p:nvSpPr>
          <p:cNvPr id="23" name="Text 21"/>
          <p:cNvSpPr/>
          <p:nvPr/>
        </p:nvSpPr>
        <p:spPr>
          <a:xfrm>
            <a:off x="658368" y="4983480"/>
            <a:ext cx="9601200" cy="502920"/>
          </a:xfrm>
          <a:prstGeom prst="rect">
            <a:avLst/>
          </a:prstGeom>
          <a:noFill/>
          <a:ln/>
        </p:spPr>
        <p:txBody>
          <a:bodyPr wrap="square" lIns="635" tIns="635" rIns="635" bIns="635" rtlCol="0" anchor="t">
            <a:normAutofit/>
          </a:bodyPr>
          <a:lstStyle/>
          <a:p>
            <a:pPr indent="0" marL="0">
              <a:buNone/>
            </a:pPr>
            <a:r>
              <a:rPr lang="en-US" sz="1800" b="1" dirty="0">
                <a:solidFill>
                  <a:srgbClr val="111318"/>
                </a:solidFill>
                <a:latin typeface="Arial" pitchFamily="34" charset="0"/>
                <a:ea typeface="Arial" pitchFamily="34" charset="-122"/>
                <a:cs typeface="Arial" pitchFamily="34" charset="-120"/>
              </a:rPr>
              <a:t>Decision target: minimize total billed tokens without sacrificing comprehension accuracy, parseability, or operating discipline.</a:t>
            </a:r>
            <a:endParaRPr lang="en-US" sz="1800" dirty="0"/>
          </a:p>
        </p:txBody>
      </p:sp>
      <p:sp>
        <p:nvSpPr>
          <p:cNvPr id="24" name="Shape 22"/>
          <p:cNvSpPr/>
          <p:nvPr/>
        </p:nvSpPr>
        <p:spPr>
          <a:xfrm>
            <a:off x="594360" y="6428232"/>
            <a:ext cx="10835640" cy="0"/>
          </a:xfrm>
          <a:prstGeom prst="line">
            <a:avLst/>
          </a:prstGeom>
          <a:noFill/>
          <a:ln w="8890">
            <a:solidFill>
              <a:srgbClr val="CBD3DF"/>
            </a:solidFill>
            <a:prstDash val="solid"/>
          </a:ln>
        </p:spPr>
      </p:sp>
      <p:pic>
        <p:nvPicPr>
          <p:cNvPr id="25" name="Image 0" descr="/mnt/data/tokenomics_assets/logo_footer.png">    </p:cNvPr>
          <p:cNvPicPr>
            <a:picLocks noChangeAspect="1"/>
          </p:cNvPicPr>
          <p:nvPr/>
        </p:nvPicPr>
        <p:blipFill>
          <a:blip r:embed="rId1"/>
          <a:stretch>
            <a:fillRect/>
          </a:stretch>
        </p:blipFill>
        <p:spPr>
          <a:xfrm>
            <a:off x="865280" y="6510528"/>
            <a:ext cx="820615" cy="228600"/>
          </a:xfrm>
          <a:prstGeom prst="rect">
            <a:avLst/>
          </a:prstGeom>
        </p:spPr>
      </p:pic>
      <p:sp>
        <p:nvSpPr>
          <p:cNvPr id="26" name="Text 23"/>
          <p:cNvSpPr/>
          <p:nvPr/>
        </p:nvSpPr>
        <p:spPr>
          <a:xfrm>
            <a:off x="2057400" y="6510528"/>
            <a:ext cx="3931920" cy="182880"/>
          </a:xfrm>
          <a:prstGeom prst="rect">
            <a:avLst/>
          </a:prstGeom>
          <a:noFill/>
          <a:ln/>
        </p:spPr>
        <p:txBody>
          <a:bodyPr wrap="square" lIns="0" tIns="0" rIns="0" bIns="0" rtlCol="0" anchor="ctr"/>
          <a:lstStyle/>
          <a:p>
            <a:pPr indent="0" marL="0">
              <a:buNone/>
            </a:pPr>
            <a:r>
              <a:rPr lang="en-US" sz="750" dirty="0">
                <a:solidFill>
                  <a:srgbClr val="6B7280"/>
                </a:solidFill>
                <a:latin typeface="Arial" pitchFamily="34" charset="0"/>
                <a:ea typeface="Arial" pitchFamily="34" charset="-122"/>
                <a:cs typeface="Arial" pitchFamily="34" charset="-120"/>
              </a:rPr>
              <a:t>Prompt Ecology, Reverse Engineering —Embodied Agencies</a:t>
            </a:r>
            <a:endParaRPr lang="en-US" sz="750" dirty="0"/>
          </a:p>
        </p:txBody>
      </p:sp>
      <p:sp>
        <p:nvSpPr>
          <p:cNvPr id="27" name="Text 24"/>
          <p:cNvSpPr/>
          <p:nvPr/>
        </p:nvSpPr>
        <p:spPr>
          <a:xfrm>
            <a:off x="11064240" y="6473952"/>
            <a:ext cx="548640" cy="228600"/>
          </a:xfrm>
          <a:prstGeom prst="rect">
            <a:avLst/>
          </a:prstGeom>
          <a:noFill/>
          <a:ln/>
        </p:spPr>
        <p:txBody>
          <a:bodyPr wrap="square" lIns="0" tIns="0" rIns="0" bIns="0" rtlCol="0" anchor="ctr"/>
          <a:lstStyle/>
          <a:p>
            <a:pPr algn="r" indent="0" marL="0">
              <a:buNone/>
            </a:pPr>
            <a:r>
              <a:rPr lang="en-US" sz="850" b="1" dirty="0">
                <a:solidFill>
                  <a:srgbClr val="1957D2"/>
                </a:solidFill>
                <a:latin typeface="Arial" pitchFamily="34" charset="0"/>
                <a:ea typeface="Arial" pitchFamily="34" charset="-122"/>
                <a:cs typeface="Arial" pitchFamily="34" charset="-120"/>
              </a:rPr>
              <a:t>02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10652760" y="301752"/>
            <a:ext cx="960120" cy="960120"/>
          </a:xfrm>
          <a:prstGeom prst="rect">
            <a:avLst/>
          </a:prstGeom>
          <a:solidFill>
            <a:srgbClr val="1957D2"/>
          </a:solidFill>
          <a:ln w="12700">
            <a:solidFill>
              <a:srgbClr val="1957D2"/>
            </a:solidFill>
            <a:prstDash val="solid"/>
          </a:ln>
        </p:spPr>
      </p:sp>
      <p:sp>
        <p:nvSpPr>
          <p:cNvPr id="3" name="Text 1"/>
          <p:cNvSpPr/>
          <p:nvPr/>
        </p:nvSpPr>
        <p:spPr>
          <a:xfrm>
            <a:off x="621792" y="548640"/>
            <a:ext cx="3840480" cy="228600"/>
          </a:xfrm>
          <a:prstGeom prst="rect">
            <a:avLst/>
          </a:prstGeom>
          <a:noFill/>
          <a:ln/>
        </p:spPr>
        <p:txBody>
          <a:bodyPr wrap="square" lIns="0" tIns="0" rIns="0" bIns="0" rtlCol="0" anchor="ctr"/>
          <a:lstStyle/>
          <a:p>
            <a:pPr indent="0" marL="0">
              <a:buNone/>
            </a:pPr>
            <a:r>
              <a:rPr lang="en-US" sz="950" b="1" dirty="0">
                <a:solidFill>
                  <a:srgbClr val="1957D2"/>
                </a:solidFill>
                <a:latin typeface="Arial" pitchFamily="34" charset="0"/>
                <a:ea typeface="Arial" pitchFamily="34" charset="-122"/>
                <a:cs typeface="Arial" pitchFamily="34" charset="-120"/>
              </a:rPr>
              <a:t>EVIDENCE BASE</a:t>
            </a:r>
            <a:endParaRPr lang="en-US" sz="950" dirty="0"/>
          </a:p>
        </p:txBody>
      </p:sp>
      <p:sp>
        <p:nvSpPr>
          <p:cNvPr id="4" name="Shape 2"/>
          <p:cNvSpPr/>
          <p:nvPr/>
        </p:nvSpPr>
        <p:spPr>
          <a:xfrm>
            <a:off x="621792" y="896112"/>
            <a:ext cx="731520" cy="0"/>
          </a:xfrm>
          <a:prstGeom prst="line">
            <a:avLst/>
          </a:prstGeom>
          <a:noFill/>
          <a:ln w="25400">
            <a:solidFill>
              <a:srgbClr val="1957D2"/>
            </a:solidFill>
            <a:prstDash val="solid"/>
          </a:ln>
        </p:spPr>
      </p:sp>
      <p:sp>
        <p:nvSpPr>
          <p:cNvPr id="5" name="Text 3"/>
          <p:cNvSpPr/>
          <p:nvPr/>
        </p:nvSpPr>
        <p:spPr>
          <a:xfrm>
            <a:off x="621792" y="1005840"/>
            <a:ext cx="7040880" cy="384048"/>
          </a:xfrm>
          <a:prstGeom prst="rect">
            <a:avLst/>
          </a:prstGeom>
          <a:noFill/>
          <a:ln/>
        </p:spPr>
        <p:txBody>
          <a:bodyPr wrap="square" lIns="0" tIns="0" rIns="0" bIns="0" rtlCol="0" anchor="ctr">
            <a:normAutofit/>
          </a:bodyPr>
          <a:lstStyle/>
          <a:p>
            <a:pPr indent="0" marL="0">
              <a:buNone/>
            </a:pPr>
            <a:r>
              <a:rPr lang="en-US" sz="3100" b="1" dirty="0">
                <a:solidFill>
                  <a:srgbClr val="111318"/>
                </a:solidFill>
                <a:latin typeface="Arial" pitchFamily="34" charset="0"/>
                <a:ea typeface="Arial" pitchFamily="34" charset="-122"/>
                <a:cs typeface="Arial" pitchFamily="34" charset="-120"/>
              </a:rPr>
              <a:t>Three evidence classes, one guardrail</a:t>
            </a:r>
            <a:endParaRPr lang="en-US" sz="3100" dirty="0"/>
          </a:p>
        </p:txBody>
      </p:sp>
      <p:sp>
        <p:nvSpPr>
          <p:cNvPr id="6" name="Text 4"/>
          <p:cNvSpPr/>
          <p:nvPr/>
        </p:nvSpPr>
        <p:spPr>
          <a:xfrm>
            <a:off x="658368" y="1920240"/>
            <a:ext cx="5394960" cy="868680"/>
          </a:xfrm>
          <a:prstGeom prst="rect">
            <a:avLst/>
          </a:prstGeom>
          <a:noFill/>
          <a:ln/>
        </p:spPr>
        <p:txBody>
          <a:bodyPr wrap="square" lIns="635" tIns="635" rIns="635" bIns="635" rtlCol="0" anchor="t">
            <a:normAutofit/>
          </a:bodyPr>
          <a:lstStyle/>
          <a:p>
            <a:pPr indent="0" marL="0">
              <a:buNone/>
            </a:pPr>
            <a:r>
              <a:rPr lang="en-US" sz="1600" dirty="0">
                <a:solidFill>
                  <a:srgbClr val="4E5868"/>
                </a:solidFill>
                <a:latin typeface="Arial" pitchFamily="34" charset="0"/>
                <a:ea typeface="Arial" pitchFamily="34" charset="-122"/>
                <a:cs typeface="Arial" pitchFamily="34" charset="-120"/>
              </a:rPr>
              <a:t>The report separates token-efficiency measurement, comprehension accuracy, and provider pricing so the deck does not mix incompatible benchmarks.</a:t>
            </a:r>
            <a:endParaRPr lang="en-US" sz="1600" dirty="0"/>
          </a:p>
        </p:txBody>
      </p:sp>
      <p:sp>
        <p:nvSpPr>
          <p:cNvPr id="7" name="Text 5"/>
          <p:cNvSpPr/>
          <p:nvPr/>
        </p:nvSpPr>
        <p:spPr>
          <a:xfrm>
            <a:off x="731520" y="3063240"/>
            <a:ext cx="3337560" cy="201168"/>
          </a:xfrm>
          <a:prstGeom prst="rect">
            <a:avLst/>
          </a:prstGeom>
          <a:noFill/>
          <a:ln/>
        </p:spPr>
        <p:txBody>
          <a:bodyPr wrap="square" lIns="0" tIns="0" rIns="0" bIns="0" rtlCol="0" anchor="ctr"/>
          <a:lstStyle/>
          <a:p>
            <a:pPr indent="0" marL="0">
              <a:buNone/>
            </a:pPr>
            <a:r>
              <a:rPr lang="en-US" sz="780" b="1" dirty="0">
                <a:solidFill>
                  <a:srgbClr val="4E5868"/>
                </a:solidFill>
                <a:latin typeface="Arial" pitchFamily="34" charset="0"/>
                <a:ea typeface="Arial" pitchFamily="34" charset="-122"/>
                <a:cs typeface="Arial" pitchFamily="34" charset="-120"/>
              </a:rPr>
              <a:t>01</a:t>
            </a:r>
            <a:endParaRPr lang="en-US" sz="780" dirty="0"/>
          </a:p>
        </p:txBody>
      </p:sp>
      <p:sp>
        <p:nvSpPr>
          <p:cNvPr id="8" name="Text 6"/>
          <p:cNvSpPr/>
          <p:nvPr/>
        </p:nvSpPr>
        <p:spPr>
          <a:xfrm>
            <a:off x="731520" y="3337560"/>
            <a:ext cx="3337560" cy="384048"/>
          </a:xfrm>
          <a:prstGeom prst="rect">
            <a:avLst/>
          </a:prstGeom>
          <a:noFill/>
          <a:ln/>
        </p:spPr>
        <p:txBody>
          <a:bodyPr wrap="square" lIns="0" tIns="0" rIns="0" bIns="0" rtlCol="0" anchor="ctr">
            <a:normAutofit/>
          </a:bodyPr>
          <a:lstStyle/>
          <a:p>
            <a:pPr indent="0" marL="0">
              <a:buNone/>
            </a:pPr>
            <a:r>
              <a:rPr lang="en-US" sz="2600" b="1" dirty="0">
                <a:solidFill>
                  <a:srgbClr val="1957D2"/>
                </a:solidFill>
                <a:latin typeface="Arial" pitchFamily="34" charset="0"/>
                <a:ea typeface="Arial" pitchFamily="34" charset="-122"/>
                <a:cs typeface="Arial" pitchFamily="34" charset="-120"/>
              </a:rPr>
              <a:t>TOON token efficiency</a:t>
            </a:r>
            <a:endParaRPr lang="en-US" sz="2600" dirty="0"/>
          </a:p>
        </p:txBody>
      </p:sp>
      <p:sp>
        <p:nvSpPr>
          <p:cNvPr id="9" name="Shape 7"/>
          <p:cNvSpPr/>
          <p:nvPr/>
        </p:nvSpPr>
        <p:spPr>
          <a:xfrm>
            <a:off x="731520" y="3813048"/>
            <a:ext cx="1371600" cy="0"/>
          </a:xfrm>
          <a:prstGeom prst="line">
            <a:avLst/>
          </a:prstGeom>
          <a:noFill/>
          <a:ln w="15240">
            <a:solidFill>
              <a:srgbClr val="1957D2"/>
            </a:solidFill>
            <a:prstDash val="solid"/>
          </a:ln>
        </p:spPr>
      </p:sp>
      <p:sp>
        <p:nvSpPr>
          <p:cNvPr id="10" name="Text 8"/>
          <p:cNvSpPr/>
          <p:nvPr/>
        </p:nvSpPr>
        <p:spPr>
          <a:xfrm>
            <a:off x="731520" y="3941064"/>
            <a:ext cx="3337560" cy="402336"/>
          </a:xfrm>
          <a:prstGeom prst="rect">
            <a:avLst/>
          </a:prstGeom>
          <a:noFill/>
          <a:ln/>
        </p:spPr>
        <p:txBody>
          <a:bodyPr wrap="square" lIns="254" tIns="254" rIns="254" bIns="254" rtlCol="0" anchor="ctr">
            <a:normAutofit/>
          </a:bodyPr>
          <a:lstStyle/>
          <a:p>
            <a:pPr indent="0" marL="0">
              <a:buNone/>
            </a:pPr>
            <a:r>
              <a:rPr lang="en-US" sz="1070" dirty="0">
                <a:solidFill>
                  <a:srgbClr val="4E5868"/>
                </a:solidFill>
                <a:latin typeface="Arial" pitchFamily="34" charset="0"/>
                <a:ea typeface="Arial" pitchFamily="34" charset="-122"/>
                <a:cs typeface="Arial" pitchFamily="34" charset="-120"/>
              </a:rPr>
              <a:t>100 uniform employee records, measured with GPT-5 o200k_base tokenizer.</a:t>
            </a:r>
            <a:endParaRPr lang="en-US" sz="1070" dirty="0"/>
          </a:p>
        </p:txBody>
      </p:sp>
      <p:sp>
        <p:nvSpPr>
          <p:cNvPr id="11" name="Text 9"/>
          <p:cNvSpPr/>
          <p:nvPr/>
        </p:nvSpPr>
        <p:spPr>
          <a:xfrm>
            <a:off x="4480560" y="3063240"/>
            <a:ext cx="3337560" cy="201168"/>
          </a:xfrm>
          <a:prstGeom prst="rect">
            <a:avLst/>
          </a:prstGeom>
          <a:noFill/>
          <a:ln/>
        </p:spPr>
        <p:txBody>
          <a:bodyPr wrap="square" lIns="0" tIns="0" rIns="0" bIns="0" rtlCol="0" anchor="ctr"/>
          <a:lstStyle/>
          <a:p>
            <a:pPr indent="0" marL="0">
              <a:buNone/>
            </a:pPr>
            <a:r>
              <a:rPr lang="en-US" sz="780" b="1" dirty="0">
                <a:solidFill>
                  <a:srgbClr val="4E5868"/>
                </a:solidFill>
                <a:latin typeface="Arial" pitchFamily="34" charset="0"/>
                <a:ea typeface="Arial" pitchFamily="34" charset="-122"/>
                <a:cs typeface="Arial" pitchFamily="34" charset="-120"/>
              </a:rPr>
              <a:t>02</a:t>
            </a:r>
            <a:endParaRPr lang="en-US" sz="780" dirty="0"/>
          </a:p>
        </p:txBody>
      </p:sp>
      <p:sp>
        <p:nvSpPr>
          <p:cNvPr id="12" name="Text 10"/>
          <p:cNvSpPr/>
          <p:nvPr/>
        </p:nvSpPr>
        <p:spPr>
          <a:xfrm>
            <a:off x="4480560" y="3337560"/>
            <a:ext cx="3337560" cy="384048"/>
          </a:xfrm>
          <a:prstGeom prst="rect">
            <a:avLst/>
          </a:prstGeom>
          <a:noFill/>
          <a:ln/>
        </p:spPr>
        <p:txBody>
          <a:bodyPr wrap="square" lIns="0" tIns="0" rIns="0" bIns="0" rtlCol="0" anchor="ctr">
            <a:normAutofit/>
          </a:bodyPr>
          <a:lstStyle/>
          <a:p>
            <a:pPr indent="0" marL="0">
              <a:buNone/>
            </a:pPr>
            <a:r>
              <a:rPr lang="en-US" sz="2600" b="1" dirty="0">
                <a:solidFill>
                  <a:srgbClr val="1957D2"/>
                </a:solidFill>
                <a:latin typeface="Arial" pitchFamily="34" charset="0"/>
                <a:ea typeface="Arial" pitchFamily="34" charset="-122"/>
                <a:cs typeface="Arial" pitchFamily="34" charset="-120"/>
              </a:rPr>
              <a:t>ImprovingAgents</a:t>
            </a:r>
            <a:endParaRPr lang="en-US" sz="2600" dirty="0"/>
          </a:p>
        </p:txBody>
      </p:sp>
      <p:sp>
        <p:nvSpPr>
          <p:cNvPr id="13" name="Shape 11"/>
          <p:cNvSpPr/>
          <p:nvPr/>
        </p:nvSpPr>
        <p:spPr>
          <a:xfrm>
            <a:off x="4480560" y="3813048"/>
            <a:ext cx="1371600" cy="0"/>
          </a:xfrm>
          <a:prstGeom prst="line">
            <a:avLst/>
          </a:prstGeom>
          <a:noFill/>
          <a:ln w="15240">
            <a:solidFill>
              <a:srgbClr val="1957D2"/>
            </a:solidFill>
            <a:prstDash val="solid"/>
          </a:ln>
        </p:spPr>
      </p:sp>
      <p:sp>
        <p:nvSpPr>
          <p:cNvPr id="14" name="Text 12"/>
          <p:cNvSpPr/>
          <p:nvPr/>
        </p:nvSpPr>
        <p:spPr>
          <a:xfrm>
            <a:off x="4480560" y="3941064"/>
            <a:ext cx="3337560" cy="402336"/>
          </a:xfrm>
          <a:prstGeom prst="rect">
            <a:avLst/>
          </a:prstGeom>
          <a:noFill/>
          <a:ln/>
        </p:spPr>
        <p:txBody>
          <a:bodyPr wrap="square" lIns="254" tIns="254" rIns="254" bIns="254" rtlCol="0" anchor="ctr">
            <a:normAutofit/>
          </a:bodyPr>
          <a:lstStyle/>
          <a:p>
            <a:pPr indent="0" marL="0">
              <a:buNone/>
            </a:pPr>
            <a:r>
              <a:rPr lang="en-US" sz="1070" dirty="0">
                <a:solidFill>
                  <a:srgbClr val="4E5868"/>
                </a:solidFill>
                <a:latin typeface="Arial" pitchFamily="34" charset="0"/>
                <a:ea typeface="Arial" pitchFamily="34" charset="-122"/>
                <a:cs typeface="Arial" pitchFamily="34" charset="-120"/>
              </a:rPr>
              <a:t>1,000 records, 1,000 randomized retrieval questions, GPT-4.1-nano, 12 paired format results.</a:t>
            </a:r>
            <a:endParaRPr lang="en-US" sz="1070" dirty="0"/>
          </a:p>
        </p:txBody>
      </p:sp>
      <p:sp>
        <p:nvSpPr>
          <p:cNvPr id="15" name="Text 13"/>
          <p:cNvSpPr/>
          <p:nvPr/>
        </p:nvSpPr>
        <p:spPr>
          <a:xfrm>
            <a:off x="8229600" y="3063240"/>
            <a:ext cx="3337560" cy="201168"/>
          </a:xfrm>
          <a:prstGeom prst="rect">
            <a:avLst/>
          </a:prstGeom>
          <a:noFill/>
          <a:ln/>
        </p:spPr>
        <p:txBody>
          <a:bodyPr wrap="square" lIns="0" tIns="0" rIns="0" bIns="0" rtlCol="0" anchor="ctr"/>
          <a:lstStyle/>
          <a:p>
            <a:pPr indent="0" marL="0">
              <a:buNone/>
            </a:pPr>
            <a:r>
              <a:rPr lang="en-US" sz="780" b="1" dirty="0">
                <a:solidFill>
                  <a:srgbClr val="4E5868"/>
                </a:solidFill>
                <a:latin typeface="Arial" pitchFamily="34" charset="0"/>
                <a:ea typeface="Arial" pitchFamily="34" charset="-122"/>
                <a:cs typeface="Arial" pitchFamily="34" charset="-120"/>
              </a:rPr>
              <a:t>03</a:t>
            </a:r>
            <a:endParaRPr lang="en-US" sz="780" dirty="0"/>
          </a:p>
        </p:txBody>
      </p:sp>
      <p:sp>
        <p:nvSpPr>
          <p:cNvPr id="16" name="Text 14"/>
          <p:cNvSpPr/>
          <p:nvPr/>
        </p:nvSpPr>
        <p:spPr>
          <a:xfrm>
            <a:off x="8229600" y="3337560"/>
            <a:ext cx="3337560" cy="384048"/>
          </a:xfrm>
          <a:prstGeom prst="rect">
            <a:avLst/>
          </a:prstGeom>
          <a:noFill/>
          <a:ln/>
        </p:spPr>
        <p:txBody>
          <a:bodyPr wrap="square" lIns="0" tIns="0" rIns="0" bIns="0" rtlCol="0" anchor="ctr">
            <a:normAutofit/>
          </a:bodyPr>
          <a:lstStyle/>
          <a:p>
            <a:pPr indent="0" marL="0">
              <a:buNone/>
            </a:pPr>
            <a:r>
              <a:rPr lang="en-US" sz="2600" b="1" dirty="0">
                <a:solidFill>
                  <a:srgbClr val="1957D2"/>
                </a:solidFill>
                <a:latin typeface="Arial" pitchFamily="34" charset="0"/>
                <a:ea typeface="Arial" pitchFamily="34" charset="-122"/>
                <a:cs typeface="Arial" pitchFamily="34" charset="-120"/>
              </a:rPr>
              <a:t>Provider pricing</a:t>
            </a:r>
            <a:endParaRPr lang="en-US" sz="2600" dirty="0"/>
          </a:p>
        </p:txBody>
      </p:sp>
      <p:sp>
        <p:nvSpPr>
          <p:cNvPr id="17" name="Shape 15"/>
          <p:cNvSpPr/>
          <p:nvPr/>
        </p:nvSpPr>
        <p:spPr>
          <a:xfrm>
            <a:off x="8229600" y="3813048"/>
            <a:ext cx="1371600" cy="0"/>
          </a:xfrm>
          <a:prstGeom prst="line">
            <a:avLst/>
          </a:prstGeom>
          <a:noFill/>
          <a:ln w="15240">
            <a:solidFill>
              <a:srgbClr val="1957D2"/>
            </a:solidFill>
            <a:prstDash val="solid"/>
          </a:ln>
        </p:spPr>
      </p:sp>
      <p:sp>
        <p:nvSpPr>
          <p:cNvPr id="18" name="Text 16"/>
          <p:cNvSpPr/>
          <p:nvPr/>
        </p:nvSpPr>
        <p:spPr>
          <a:xfrm>
            <a:off x="8229600" y="3941064"/>
            <a:ext cx="3337560" cy="402336"/>
          </a:xfrm>
          <a:prstGeom prst="rect">
            <a:avLst/>
          </a:prstGeom>
          <a:noFill/>
          <a:ln/>
        </p:spPr>
        <p:txBody>
          <a:bodyPr wrap="square" lIns="254" tIns="254" rIns="254" bIns="254" rtlCol="0" anchor="ctr">
            <a:normAutofit/>
          </a:bodyPr>
          <a:lstStyle/>
          <a:p>
            <a:pPr indent="0" marL="0">
              <a:buNone/>
            </a:pPr>
            <a:r>
              <a:rPr lang="en-US" sz="1070" dirty="0">
                <a:solidFill>
                  <a:srgbClr val="4E5868"/>
                </a:solidFill>
                <a:latin typeface="Arial" pitchFamily="34" charset="0"/>
                <a:ea typeface="Arial" pitchFamily="34" charset="-122"/>
                <a:cs typeface="Arial" pitchFamily="34" charset="-120"/>
              </a:rPr>
              <a:t>Official list prices verified June 16, 2026, expressed per million tokens.</a:t>
            </a:r>
            <a:endParaRPr lang="en-US" sz="1070" dirty="0"/>
          </a:p>
        </p:txBody>
      </p:sp>
      <p:sp>
        <p:nvSpPr>
          <p:cNvPr id="19" name="Shape 17"/>
          <p:cNvSpPr/>
          <p:nvPr/>
        </p:nvSpPr>
        <p:spPr>
          <a:xfrm>
            <a:off x="749808" y="4956048"/>
            <a:ext cx="10241280" cy="0"/>
          </a:xfrm>
          <a:prstGeom prst="line">
            <a:avLst/>
          </a:prstGeom>
          <a:noFill/>
          <a:ln w="15240">
            <a:solidFill>
              <a:srgbClr val="1957D2"/>
            </a:solidFill>
            <a:prstDash val="solid"/>
          </a:ln>
        </p:spPr>
      </p:sp>
      <p:sp>
        <p:nvSpPr>
          <p:cNvPr id="20" name="Text 18"/>
          <p:cNvSpPr/>
          <p:nvPr/>
        </p:nvSpPr>
        <p:spPr>
          <a:xfrm>
            <a:off x="749808" y="5102352"/>
            <a:ext cx="10149840" cy="320040"/>
          </a:xfrm>
          <a:prstGeom prst="rect">
            <a:avLst/>
          </a:prstGeom>
          <a:noFill/>
          <a:ln/>
        </p:spPr>
        <p:txBody>
          <a:bodyPr wrap="square" lIns="635" tIns="635" rIns="635" bIns="635" rtlCol="0" anchor="t">
            <a:normAutofit/>
          </a:bodyPr>
          <a:lstStyle/>
          <a:p>
            <a:pPr indent="0" marL="0">
              <a:buNone/>
            </a:pPr>
            <a:r>
              <a:rPr lang="en-US" sz="1550" b="1" dirty="0">
                <a:solidFill>
                  <a:srgbClr val="111318"/>
                </a:solidFill>
                <a:latin typeface="Arial" pitchFamily="34" charset="0"/>
                <a:ea typeface="Arial" pitchFamily="34" charset="-122"/>
                <a:cs typeface="Arial" pitchFamily="34" charset="-120"/>
              </a:rPr>
              <a:t>Guardrail: do not combine token counts and accuracy from different datasets, tokenizer families, or serialization settings in the same scatter plot.</a:t>
            </a:r>
            <a:endParaRPr lang="en-US" sz="1550" dirty="0"/>
          </a:p>
        </p:txBody>
      </p:sp>
      <p:sp>
        <p:nvSpPr>
          <p:cNvPr id="21" name="Shape 19"/>
          <p:cNvSpPr/>
          <p:nvPr/>
        </p:nvSpPr>
        <p:spPr>
          <a:xfrm>
            <a:off x="594360" y="6428232"/>
            <a:ext cx="10835640" cy="0"/>
          </a:xfrm>
          <a:prstGeom prst="line">
            <a:avLst/>
          </a:prstGeom>
          <a:noFill/>
          <a:ln w="8890">
            <a:solidFill>
              <a:srgbClr val="CBD3DF"/>
            </a:solidFill>
            <a:prstDash val="solid"/>
          </a:ln>
        </p:spPr>
      </p:sp>
      <p:pic>
        <p:nvPicPr>
          <p:cNvPr id="22" name="Image 0" descr="/mnt/data/tokenomics_assets/logo_footer.png">    </p:cNvPr>
          <p:cNvPicPr>
            <a:picLocks noChangeAspect="1"/>
          </p:cNvPicPr>
          <p:nvPr/>
        </p:nvPicPr>
        <p:blipFill>
          <a:blip r:embed="rId1"/>
          <a:stretch>
            <a:fillRect/>
          </a:stretch>
        </p:blipFill>
        <p:spPr>
          <a:xfrm>
            <a:off x="865280" y="6510528"/>
            <a:ext cx="820615" cy="228600"/>
          </a:xfrm>
          <a:prstGeom prst="rect">
            <a:avLst/>
          </a:prstGeom>
        </p:spPr>
      </p:pic>
      <p:sp>
        <p:nvSpPr>
          <p:cNvPr id="23" name="Text 20"/>
          <p:cNvSpPr/>
          <p:nvPr/>
        </p:nvSpPr>
        <p:spPr>
          <a:xfrm>
            <a:off x="2057400" y="6510528"/>
            <a:ext cx="3931920" cy="182880"/>
          </a:xfrm>
          <a:prstGeom prst="rect">
            <a:avLst/>
          </a:prstGeom>
          <a:noFill/>
          <a:ln/>
        </p:spPr>
        <p:txBody>
          <a:bodyPr wrap="square" lIns="0" tIns="0" rIns="0" bIns="0" rtlCol="0" anchor="ctr"/>
          <a:lstStyle/>
          <a:p>
            <a:pPr indent="0" marL="0">
              <a:buNone/>
            </a:pPr>
            <a:r>
              <a:rPr lang="en-US" sz="750" dirty="0">
                <a:solidFill>
                  <a:srgbClr val="6B7280"/>
                </a:solidFill>
                <a:latin typeface="Arial" pitchFamily="34" charset="0"/>
                <a:ea typeface="Arial" pitchFamily="34" charset="-122"/>
                <a:cs typeface="Arial" pitchFamily="34" charset="-120"/>
              </a:rPr>
              <a:t>Prompt Ecology, Reverse Engineering —Embodied Agencies</a:t>
            </a:r>
            <a:endParaRPr lang="en-US" sz="750" dirty="0"/>
          </a:p>
        </p:txBody>
      </p:sp>
      <p:sp>
        <p:nvSpPr>
          <p:cNvPr id="24" name="Text 21"/>
          <p:cNvSpPr/>
          <p:nvPr/>
        </p:nvSpPr>
        <p:spPr>
          <a:xfrm>
            <a:off x="11064240" y="6473952"/>
            <a:ext cx="548640" cy="228600"/>
          </a:xfrm>
          <a:prstGeom prst="rect">
            <a:avLst/>
          </a:prstGeom>
          <a:noFill/>
          <a:ln/>
        </p:spPr>
        <p:txBody>
          <a:bodyPr wrap="square" lIns="0" tIns="0" rIns="0" bIns="0" rtlCol="0" anchor="ctr"/>
          <a:lstStyle/>
          <a:p>
            <a:pPr algn="r" indent="0" marL="0">
              <a:buNone/>
            </a:pPr>
            <a:r>
              <a:rPr lang="en-US" sz="850" b="1" dirty="0">
                <a:solidFill>
                  <a:srgbClr val="1957D2"/>
                </a:solidFill>
                <a:latin typeface="Arial" pitchFamily="34" charset="0"/>
                <a:ea typeface="Arial" pitchFamily="34" charset="-122"/>
                <a:cs typeface="Arial" pitchFamily="34" charset="-120"/>
              </a:rPr>
              <a:t>03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10652760" y="301752"/>
            <a:ext cx="960120" cy="960120"/>
          </a:xfrm>
          <a:prstGeom prst="rect">
            <a:avLst/>
          </a:prstGeom>
          <a:solidFill>
            <a:srgbClr val="1957D2"/>
          </a:solidFill>
          <a:ln w="12700">
            <a:solidFill>
              <a:srgbClr val="1957D2"/>
            </a:solidFill>
            <a:prstDash val="solid"/>
          </a:ln>
        </p:spPr>
      </p:sp>
      <p:sp>
        <p:nvSpPr>
          <p:cNvPr id="3" name="Text 1"/>
          <p:cNvSpPr/>
          <p:nvPr/>
        </p:nvSpPr>
        <p:spPr>
          <a:xfrm>
            <a:off x="621792" y="548640"/>
            <a:ext cx="3840480" cy="228600"/>
          </a:xfrm>
          <a:prstGeom prst="rect">
            <a:avLst/>
          </a:prstGeom>
          <a:noFill/>
          <a:ln/>
        </p:spPr>
        <p:txBody>
          <a:bodyPr wrap="square" lIns="0" tIns="0" rIns="0" bIns="0" rtlCol="0" anchor="ctr"/>
          <a:lstStyle/>
          <a:p>
            <a:pPr indent="0" marL="0">
              <a:buNone/>
            </a:pPr>
            <a:r>
              <a:rPr lang="en-US" sz="950" b="1" dirty="0">
                <a:solidFill>
                  <a:srgbClr val="1957D2"/>
                </a:solidFill>
                <a:latin typeface="Arial" pitchFamily="34" charset="0"/>
                <a:ea typeface="Arial" pitchFamily="34" charset="-122"/>
                <a:cs typeface="Arial" pitchFamily="34" charset="-120"/>
              </a:rPr>
              <a:t>EXECUTIVE SUMMARY</a:t>
            </a:r>
            <a:endParaRPr lang="en-US" sz="950" dirty="0"/>
          </a:p>
        </p:txBody>
      </p:sp>
      <p:sp>
        <p:nvSpPr>
          <p:cNvPr id="4" name="Shape 2"/>
          <p:cNvSpPr/>
          <p:nvPr/>
        </p:nvSpPr>
        <p:spPr>
          <a:xfrm>
            <a:off x="621792" y="896112"/>
            <a:ext cx="731520" cy="0"/>
          </a:xfrm>
          <a:prstGeom prst="line">
            <a:avLst/>
          </a:prstGeom>
          <a:noFill/>
          <a:ln w="25400">
            <a:solidFill>
              <a:srgbClr val="1957D2"/>
            </a:solidFill>
            <a:prstDash val="solid"/>
          </a:ln>
        </p:spPr>
      </p:sp>
      <p:sp>
        <p:nvSpPr>
          <p:cNvPr id="5" name="Text 3"/>
          <p:cNvSpPr/>
          <p:nvPr/>
        </p:nvSpPr>
        <p:spPr>
          <a:xfrm>
            <a:off x="621792" y="1005840"/>
            <a:ext cx="7040880" cy="384048"/>
          </a:xfrm>
          <a:prstGeom prst="rect">
            <a:avLst/>
          </a:prstGeom>
          <a:noFill/>
          <a:ln/>
        </p:spPr>
        <p:txBody>
          <a:bodyPr wrap="square" lIns="0" tIns="0" rIns="0" bIns="0" rtlCol="0" anchor="ctr">
            <a:normAutofit/>
          </a:bodyPr>
          <a:lstStyle/>
          <a:p>
            <a:pPr indent="0" marL="0">
              <a:buNone/>
            </a:pPr>
            <a:r>
              <a:rPr lang="en-US" sz="3100" b="1" dirty="0">
                <a:solidFill>
                  <a:srgbClr val="111318"/>
                </a:solidFill>
                <a:latin typeface="Arial" pitchFamily="34" charset="0"/>
                <a:ea typeface="Arial" pitchFamily="34" charset="-122"/>
                <a:cs typeface="Arial" pitchFamily="34" charset="-120"/>
              </a:rPr>
              <a:t>Bottom line for production teams</a:t>
            </a:r>
            <a:endParaRPr lang="en-US" sz="3100" dirty="0"/>
          </a:p>
        </p:txBody>
      </p:sp>
      <p:sp>
        <p:nvSpPr>
          <p:cNvPr id="6" name="Text 4"/>
          <p:cNvSpPr/>
          <p:nvPr/>
        </p:nvSpPr>
        <p:spPr>
          <a:xfrm>
            <a:off x="713232" y="1691640"/>
            <a:ext cx="411480" cy="256032"/>
          </a:xfrm>
          <a:prstGeom prst="rect">
            <a:avLst/>
          </a:prstGeom>
          <a:noFill/>
          <a:ln/>
        </p:spPr>
        <p:txBody>
          <a:bodyPr wrap="square" lIns="0" tIns="0" rIns="0" bIns="0" rtlCol="0" anchor="ctr"/>
          <a:lstStyle/>
          <a:p>
            <a:pPr algn="l" indent="0" marL="0">
              <a:buNone/>
            </a:pPr>
            <a:r>
              <a:rPr lang="en-US" sz="1400" b="1" dirty="0">
                <a:solidFill>
                  <a:srgbClr val="1957D2"/>
                </a:solidFill>
                <a:latin typeface="Arial" pitchFamily="34" charset="0"/>
                <a:ea typeface="Arial" pitchFamily="34" charset="-122"/>
                <a:cs typeface="Arial" pitchFamily="34" charset="-120"/>
              </a:rPr>
              <a:t>01</a:t>
            </a:r>
            <a:endParaRPr lang="en-US" sz="1400" dirty="0"/>
          </a:p>
        </p:txBody>
      </p:sp>
      <p:sp>
        <p:nvSpPr>
          <p:cNvPr id="7" name="Text 5"/>
          <p:cNvSpPr/>
          <p:nvPr/>
        </p:nvSpPr>
        <p:spPr>
          <a:xfrm>
            <a:off x="1234440" y="1691640"/>
            <a:ext cx="3108960" cy="301752"/>
          </a:xfrm>
          <a:prstGeom prst="rect">
            <a:avLst/>
          </a:prstGeom>
          <a:noFill/>
          <a:ln/>
        </p:spPr>
        <p:txBody>
          <a:bodyPr wrap="square" lIns="0" tIns="0" rIns="0" bIns="0" rtlCol="0" anchor="ctr"/>
          <a:lstStyle/>
          <a:p>
            <a:pPr indent="0" marL="0">
              <a:buNone/>
            </a:pPr>
            <a:r>
              <a:rPr lang="en-US" sz="1600" b="1" dirty="0">
                <a:solidFill>
                  <a:srgbClr val="111318"/>
                </a:solidFill>
                <a:latin typeface="Arial" pitchFamily="34" charset="0"/>
                <a:ea typeface="Arial" pitchFamily="34" charset="-122"/>
                <a:cs typeface="Arial" pitchFamily="34" charset="-120"/>
              </a:rPr>
              <a:t>Flat, high-volume input</a:t>
            </a:r>
            <a:endParaRPr lang="en-US" sz="1600" dirty="0"/>
          </a:p>
        </p:txBody>
      </p:sp>
      <p:sp>
        <p:nvSpPr>
          <p:cNvPr id="8" name="Text 6"/>
          <p:cNvSpPr/>
          <p:nvPr/>
        </p:nvSpPr>
        <p:spPr>
          <a:xfrm>
            <a:off x="4526280" y="1691640"/>
            <a:ext cx="6126480" cy="475488"/>
          </a:xfrm>
          <a:prstGeom prst="rect">
            <a:avLst/>
          </a:prstGeom>
          <a:noFill/>
          <a:ln/>
        </p:spPr>
        <p:txBody>
          <a:bodyPr wrap="square" lIns="635" tIns="635" rIns="635" bIns="635" rtlCol="0" anchor="t">
            <a:normAutofit/>
          </a:bodyPr>
          <a:lstStyle/>
          <a:p>
            <a:pPr indent="0" marL="0">
              <a:buNone/>
            </a:pPr>
            <a:r>
              <a:rPr lang="en-US" sz="1500" dirty="0">
                <a:solidFill>
                  <a:srgbClr val="4E5868"/>
                </a:solidFill>
                <a:latin typeface="Arial" pitchFamily="34" charset="0"/>
                <a:ea typeface="Arial" pitchFamily="34" charset="-122"/>
                <a:cs typeface="Arial" pitchFamily="34" charset="-120"/>
              </a:rPr>
              <a:t>Use CSV or TSV as the cost floor. Evaluate TOON when uniform arrays justify schema-once encoding.</a:t>
            </a:r>
            <a:endParaRPr lang="en-US" sz="1500" dirty="0"/>
          </a:p>
        </p:txBody>
      </p:sp>
      <p:sp>
        <p:nvSpPr>
          <p:cNvPr id="9" name="Shape 7"/>
          <p:cNvSpPr/>
          <p:nvPr/>
        </p:nvSpPr>
        <p:spPr>
          <a:xfrm>
            <a:off x="1234440" y="2404872"/>
            <a:ext cx="9418320" cy="0"/>
          </a:xfrm>
          <a:prstGeom prst="line">
            <a:avLst/>
          </a:prstGeom>
          <a:noFill/>
          <a:ln w="7620">
            <a:solidFill>
              <a:srgbClr val="D3DAE6"/>
            </a:solidFill>
            <a:prstDash val="solid"/>
          </a:ln>
        </p:spPr>
      </p:sp>
      <p:sp>
        <p:nvSpPr>
          <p:cNvPr id="10" name="Text 8"/>
          <p:cNvSpPr/>
          <p:nvPr/>
        </p:nvSpPr>
        <p:spPr>
          <a:xfrm>
            <a:off x="713232" y="2633472"/>
            <a:ext cx="411480" cy="256032"/>
          </a:xfrm>
          <a:prstGeom prst="rect">
            <a:avLst/>
          </a:prstGeom>
          <a:noFill/>
          <a:ln/>
        </p:spPr>
        <p:txBody>
          <a:bodyPr wrap="square" lIns="0" tIns="0" rIns="0" bIns="0" rtlCol="0" anchor="ctr"/>
          <a:lstStyle/>
          <a:p>
            <a:pPr algn="l" indent="0" marL="0">
              <a:buNone/>
            </a:pPr>
            <a:r>
              <a:rPr lang="en-US" sz="1400" b="1" dirty="0">
                <a:solidFill>
                  <a:srgbClr val="1957D2"/>
                </a:solidFill>
                <a:latin typeface="Arial" pitchFamily="34" charset="0"/>
                <a:ea typeface="Arial" pitchFamily="34" charset="-122"/>
                <a:cs typeface="Arial" pitchFamily="34" charset="-120"/>
              </a:rPr>
              <a:t>02</a:t>
            </a:r>
            <a:endParaRPr lang="en-US" sz="1400" dirty="0"/>
          </a:p>
        </p:txBody>
      </p:sp>
      <p:sp>
        <p:nvSpPr>
          <p:cNvPr id="11" name="Text 9"/>
          <p:cNvSpPr/>
          <p:nvPr/>
        </p:nvSpPr>
        <p:spPr>
          <a:xfrm>
            <a:off x="1234440" y="2633472"/>
            <a:ext cx="3108960" cy="301752"/>
          </a:xfrm>
          <a:prstGeom prst="rect">
            <a:avLst/>
          </a:prstGeom>
          <a:noFill/>
          <a:ln/>
        </p:spPr>
        <p:txBody>
          <a:bodyPr wrap="square" lIns="0" tIns="0" rIns="0" bIns="0" rtlCol="0" anchor="ctr"/>
          <a:lstStyle/>
          <a:p>
            <a:pPr indent="0" marL="0">
              <a:buNone/>
            </a:pPr>
            <a:r>
              <a:rPr lang="en-US" sz="1600" b="1" dirty="0">
                <a:solidFill>
                  <a:srgbClr val="111318"/>
                </a:solidFill>
                <a:latin typeface="Arial" pitchFamily="34" charset="0"/>
                <a:ea typeface="Arial" pitchFamily="34" charset="-122"/>
                <a:cs typeface="Arial" pitchFamily="34" charset="-120"/>
              </a:rPr>
              <a:t>Nested or heterogeneous input</a:t>
            </a:r>
            <a:endParaRPr lang="en-US" sz="1600" dirty="0"/>
          </a:p>
        </p:txBody>
      </p:sp>
      <p:sp>
        <p:nvSpPr>
          <p:cNvPr id="12" name="Text 10"/>
          <p:cNvSpPr/>
          <p:nvPr/>
        </p:nvSpPr>
        <p:spPr>
          <a:xfrm>
            <a:off x="4526280" y="2633472"/>
            <a:ext cx="6126480" cy="475488"/>
          </a:xfrm>
          <a:prstGeom prst="rect">
            <a:avLst/>
          </a:prstGeom>
          <a:noFill/>
          <a:ln/>
        </p:spPr>
        <p:txBody>
          <a:bodyPr wrap="square" lIns="635" tIns="635" rIns="635" bIns="635" rtlCol="0" anchor="t">
            <a:normAutofit/>
          </a:bodyPr>
          <a:lstStyle/>
          <a:p>
            <a:pPr indent="0" marL="0">
              <a:buNone/>
            </a:pPr>
            <a:r>
              <a:rPr lang="en-US" sz="1500" dirty="0">
                <a:solidFill>
                  <a:srgbClr val="4E5868"/>
                </a:solidFill>
                <a:latin typeface="Arial" pitchFamily="34" charset="0"/>
                <a:ea typeface="Arial" pitchFamily="34" charset="-122"/>
                <a:cs typeface="Arial" pitchFamily="34" charset="-120"/>
              </a:rPr>
              <a:t>Use compact JSON as the safest efficiency baseline; TOON can lose on mixed or deeply nested structures.</a:t>
            </a:r>
            <a:endParaRPr lang="en-US" sz="1500" dirty="0"/>
          </a:p>
        </p:txBody>
      </p:sp>
      <p:sp>
        <p:nvSpPr>
          <p:cNvPr id="13" name="Shape 11"/>
          <p:cNvSpPr/>
          <p:nvPr/>
        </p:nvSpPr>
        <p:spPr>
          <a:xfrm>
            <a:off x="1234440" y="3346704"/>
            <a:ext cx="9418320" cy="0"/>
          </a:xfrm>
          <a:prstGeom prst="line">
            <a:avLst/>
          </a:prstGeom>
          <a:noFill/>
          <a:ln w="7620">
            <a:solidFill>
              <a:srgbClr val="D3DAE6"/>
            </a:solidFill>
            <a:prstDash val="solid"/>
          </a:ln>
        </p:spPr>
      </p:sp>
      <p:sp>
        <p:nvSpPr>
          <p:cNvPr id="14" name="Text 12"/>
          <p:cNvSpPr/>
          <p:nvPr/>
        </p:nvSpPr>
        <p:spPr>
          <a:xfrm>
            <a:off x="713232" y="3575304"/>
            <a:ext cx="411480" cy="256032"/>
          </a:xfrm>
          <a:prstGeom prst="rect">
            <a:avLst/>
          </a:prstGeom>
          <a:noFill/>
          <a:ln/>
        </p:spPr>
        <p:txBody>
          <a:bodyPr wrap="square" lIns="0" tIns="0" rIns="0" bIns="0" rtlCol="0" anchor="ctr"/>
          <a:lstStyle/>
          <a:p>
            <a:pPr algn="l" indent="0" marL="0">
              <a:buNone/>
            </a:pPr>
            <a:r>
              <a:rPr lang="en-US" sz="1400" b="1" dirty="0">
                <a:solidFill>
                  <a:srgbClr val="1957D2"/>
                </a:solidFill>
                <a:latin typeface="Arial" pitchFamily="34" charset="0"/>
                <a:ea typeface="Arial" pitchFamily="34" charset="-122"/>
                <a:cs typeface="Arial" pitchFamily="34" charset="-120"/>
              </a:rPr>
              <a:t>03</a:t>
            </a:r>
            <a:endParaRPr lang="en-US" sz="1400" dirty="0"/>
          </a:p>
        </p:txBody>
      </p:sp>
      <p:sp>
        <p:nvSpPr>
          <p:cNvPr id="15" name="Text 13"/>
          <p:cNvSpPr/>
          <p:nvPr/>
        </p:nvSpPr>
        <p:spPr>
          <a:xfrm>
            <a:off x="1234440" y="3575304"/>
            <a:ext cx="3108960" cy="301752"/>
          </a:xfrm>
          <a:prstGeom prst="rect">
            <a:avLst/>
          </a:prstGeom>
          <a:noFill/>
          <a:ln/>
        </p:spPr>
        <p:txBody>
          <a:bodyPr wrap="square" lIns="0" tIns="0" rIns="0" bIns="0" rtlCol="0" anchor="ctr"/>
          <a:lstStyle/>
          <a:p>
            <a:pPr indent="0" marL="0">
              <a:buNone/>
            </a:pPr>
            <a:r>
              <a:rPr lang="en-US" sz="1600" b="1" dirty="0">
                <a:solidFill>
                  <a:srgbClr val="111318"/>
                </a:solidFill>
                <a:latin typeface="Arial" pitchFamily="34" charset="0"/>
                <a:ea typeface="Arial" pitchFamily="34" charset="-122"/>
                <a:cs typeface="Arial" pitchFamily="34" charset="-120"/>
              </a:rPr>
              <a:t>Structured output</a:t>
            </a:r>
            <a:endParaRPr lang="en-US" sz="1600" dirty="0"/>
          </a:p>
        </p:txBody>
      </p:sp>
      <p:sp>
        <p:nvSpPr>
          <p:cNvPr id="16" name="Text 14"/>
          <p:cNvSpPr/>
          <p:nvPr/>
        </p:nvSpPr>
        <p:spPr>
          <a:xfrm>
            <a:off x="4526280" y="3575304"/>
            <a:ext cx="6126480" cy="475488"/>
          </a:xfrm>
          <a:prstGeom prst="rect">
            <a:avLst/>
          </a:prstGeom>
          <a:noFill/>
          <a:ln/>
        </p:spPr>
        <p:txBody>
          <a:bodyPr wrap="square" lIns="635" tIns="635" rIns="635" bIns="635" rtlCol="0" anchor="t">
            <a:normAutofit/>
          </a:bodyPr>
          <a:lstStyle/>
          <a:p>
            <a:pPr indent="0" marL="0">
              <a:buNone/>
            </a:pPr>
            <a:r>
              <a:rPr lang="en-US" sz="1500" dirty="0">
                <a:solidFill>
                  <a:srgbClr val="4E5868"/>
                </a:solidFill>
                <a:latin typeface="Arial" pitchFamily="34" charset="0"/>
                <a:ea typeface="Arial" pitchFamily="34" charset="-122"/>
                <a:cs typeface="Arial" pitchFamily="34" charset="-120"/>
              </a:rPr>
              <a:t>Use JSON Schema or strict tool calling when validation matters.</a:t>
            </a:r>
            <a:endParaRPr lang="en-US" sz="1500" dirty="0"/>
          </a:p>
        </p:txBody>
      </p:sp>
      <p:sp>
        <p:nvSpPr>
          <p:cNvPr id="17" name="Shape 15"/>
          <p:cNvSpPr/>
          <p:nvPr/>
        </p:nvSpPr>
        <p:spPr>
          <a:xfrm>
            <a:off x="1234440" y="4288536"/>
            <a:ext cx="9418320" cy="0"/>
          </a:xfrm>
          <a:prstGeom prst="line">
            <a:avLst/>
          </a:prstGeom>
          <a:noFill/>
          <a:ln w="7620">
            <a:solidFill>
              <a:srgbClr val="D3DAE6"/>
            </a:solidFill>
            <a:prstDash val="solid"/>
          </a:ln>
        </p:spPr>
      </p:sp>
      <p:sp>
        <p:nvSpPr>
          <p:cNvPr id="18" name="Text 16"/>
          <p:cNvSpPr/>
          <p:nvPr/>
        </p:nvSpPr>
        <p:spPr>
          <a:xfrm>
            <a:off x="713232" y="4517136"/>
            <a:ext cx="411480" cy="256032"/>
          </a:xfrm>
          <a:prstGeom prst="rect">
            <a:avLst/>
          </a:prstGeom>
          <a:noFill/>
          <a:ln/>
        </p:spPr>
        <p:txBody>
          <a:bodyPr wrap="square" lIns="0" tIns="0" rIns="0" bIns="0" rtlCol="0" anchor="ctr"/>
          <a:lstStyle/>
          <a:p>
            <a:pPr algn="l" indent="0" marL="0">
              <a:buNone/>
            </a:pPr>
            <a:r>
              <a:rPr lang="en-US" sz="1400" b="1" dirty="0">
                <a:solidFill>
                  <a:srgbClr val="1957D2"/>
                </a:solidFill>
                <a:latin typeface="Arial" pitchFamily="34" charset="0"/>
                <a:ea typeface="Arial" pitchFamily="34" charset="-122"/>
                <a:cs typeface="Arial" pitchFamily="34" charset="-120"/>
              </a:rPr>
              <a:t>04</a:t>
            </a:r>
            <a:endParaRPr lang="en-US" sz="1400" dirty="0"/>
          </a:p>
        </p:txBody>
      </p:sp>
      <p:sp>
        <p:nvSpPr>
          <p:cNvPr id="19" name="Text 17"/>
          <p:cNvSpPr/>
          <p:nvPr/>
        </p:nvSpPr>
        <p:spPr>
          <a:xfrm>
            <a:off x="1234440" y="4517136"/>
            <a:ext cx="3108960" cy="301752"/>
          </a:xfrm>
          <a:prstGeom prst="rect">
            <a:avLst/>
          </a:prstGeom>
          <a:noFill/>
          <a:ln/>
        </p:spPr>
        <p:txBody>
          <a:bodyPr wrap="square" lIns="0" tIns="0" rIns="0" bIns="0" rtlCol="0" anchor="ctr"/>
          <a:lstStyle/>
          <a:p>
            <a:pPr indent="0" marL="0">
              <a:buNone/>
            </a:pPr>
            <a:r>
              <a:rPr lang="en-US" sz="1600" b="1" dirty="0">
                <a:solidFill>
                  <a:srgbClr val="111318"/>
                </a:solidFill>
                <a:latin typeface="Arial" pitchFamily="34" charset="0"/>
                <a:ea typeface="Arial" pitchFamily="34" charset="-122"/>
                <a:cs typeface="Arial" pitchFamily="34" charset="-120"/>
              </a:rPr>
              <a:t>Benchmark discipline</a:t>
            </a:r>
            <a:endParaRPr lang="en-US" sz="1600" dirty="0"/>
          </a:p>
        </p:txBody>
      </p:sp>
      <p:sp>
        <p:nvSpPr>
          <p:cNvPr id="20" name="Text 18"/>
          <p:cNvSpPr/>
          <p:nvPr/>
        </p:nvSpPr>
        <p:spPr>
          <a:xfrm>
            <a:off x="4526280" y="4517136"/>
            <a:ext cx="6126480" cy="475488"/>
          </a:xfrm>
          <a:prstGeom prst="rect">
            <a:avLst/>
          </a:prstGeom>
          <a:noFill/>
          <a:ln/>
        </p:spPr>
        <p:txBody>
          <a:bodyPr wrap="square" lIns="635" tIns="635" rIns="635" bIns="635" rtlCol="0" anchor="t">
            <a:normAutofit/>
          </a:bodyPr>
          <a:lstStyle/>
          <a:p>
            <a:pPr indent="0" marL="0">
              <a:buNone/>
            </a:pPr>
            <a:r>
              <a:rPr lang="en-US" sz="1500" dirty="0">
                <a:solidFill>
                  <a:srgbClr val="4E5868"/>
                </a:solidFill>
                <a:latin typeface="Arial" pitchFamily="34" charset="0"/>
                <a:ea typeface="Arial" pitchFamily="34" charset="-122"/>
                <a:cs typeface="Arial" pitchFamily="34" charset="-120"/>
              </a:rPr>
              <a:t>Measure target model, tokenizer/count endpoint, serializer configuration, parse failures, retries, and total billed tokens.</a:t>
            </a:r>
            <a:endParaRPr lang="en-US" sz="1500" dirty="0"/>
          </a:p>
        </p:txBody>
      </p:sp>
      <p:sp>
        <p:nvSpPr>
          <p:cNvPr id="21" name="Shape 19"/>
          <p:cNvSpPr/>
          <p:nvPr/>
        </p:nvSpPr>
        <p:spPr>
          <a:xfrm>
            <a:off x="1234440" y="5230368"/>
            <a:ext cx="9418320" cy="0"/>
          </a:xfrm>
          <a:prstGeom prst="line">
            <a:avLst/>
          </a:prstGeom>
          <a:noFill/>
          <a:ln w="7620">
            <a:solidFill>
              <a:srgbClr val="D3DAE6"/>
            </a:solidFill>
            <a:prstDash val="solid"/>
          </a:ln>
        </p:spPr>
      </p:sp>
      <p:sp>
        <p:nvSpPr>
          <p:cNvPr id="22" name="Shape 20"/>
          <p:cNvSpPr/>
          <p:nvPr/>
        </p:nvSpPr>
        <p:spPr>
          <a:xfrm>
            <a:off x="594360" y="6428232"/>
            <a:ext cx="10835640" cy="0"/>
          </a:xfrm>
          <a:prstGeom prst="line">
            <a:avLst/>
          </a:prstGeom>
          <a:noFill/>
          <a:ln w="8890">
            <a:solidFill>
              <a:srgbClr val="CBD3DF"/>
            </a:solidFill>
            <a:prstDash val="solid"/>
          </a:ln>
        </p:spPr>
      </p:sp>
      <p:pic>
        <p:nvPicPr>
          <p:cNvPr id="23" name="Image 0" descr="/mnt/data/tokenomics_assets/logo_footer.png">    </p:cNvPr>
          <p:cNvPicPr>
            <a:picLocks noChangeAspect="1"/>
          </p:cNvPicPr>
          <p:nvPr/>
        </p:nvPicPr>
        <p:blipFill>
          <a:blip r:embed="rId1"/>
          <a:stretch>
            <a:fillRect/>
          </a:stretch>
        </p:blipFill>
        <p:spPr>
          <a:xfrm>
            <a:off x="865280" y="6510528"/>
            <a:ext cx="820615" cy="228600"/>
          </a:xfrm>
          <a:prstGeom prst="rect">
            <a:avLst/>
          </a:prstGeom>
        </p:spPr>
      </p:pic>
      <p:sp>
        <p:nvSpPr>
          <p:cNvPr id="24" name="Text 21"/>
          <p:cNvSpPr/>
          <p:nvPr/>
        </p:nvSpPr>
        <p:spPr>
          <a:xfrm>
            <a:off x="2057400" y="6510528"/>
            <a:ext cx="3931920" cy="182880"/>
          </a:xfrm>
          <a:prstGeom prst="rect">
            <a:avLst/>
          </a:prstGeom>
          <a:noFill/>
          <a:ln/>
        </p:spPr>
        <p:txBody>
          <a:bodyPr wrap="square" lIns="0" tIns="0" rIns="0" bIns="0" rtlCol="0" anchor="ctr"/>
          <a:lstStyle/>
          <a:p>
            <a:pPr indent="0" marL="0">
              <a:buNone/>
            </a:pPr>
            <a:r>
              <a:rPr lang="en-US" sz="750" dirty="0">
                <a:solidFill>
                  <a:srgbClr val="6B7280"/>
                </a:solidFill>
                <a:latin typeface="Arial" pitchFamily="34" charset="0"/>
                <a:ea typeface="Arial" pitchFamily="34" charset="-122"/>
                <a:cs typeface="Arial" pitchFamily="34" charset="-120"/>
              </a:rPr>
              <a:t>Prompt Ecology, Reverse Engineering —Embodied Agencies</a:t>
            </a:r>
            <a:endParaRPr lang="en-US" sz="750" dirty="0"/>
          </a:p>
        </p:txBody>
      </p:sp>
      <p:sp>
        <p:nvSpPr>
          <p:cNvPr id="25" name="Text 22"/>
          <p:cNvSpPr/>
          <p:nvPr/>
        </p:nvSpPr>
        <p:spPr>
          <a:xfrm>
            <a:off x="11064240" y="6473952"/>
            <a:ext cx="548640" cy="228600"/>
          </a:xfrm>
          <a:prstGeom prst="rect">
            <a:avLst/>
          </a:prstGeom>
          <a:noFill/>
          <a:ln/>
        </p:spPr>
        <p:txBody>
          <a:bodyPr wrap="square" lIns="0" tIns="0" rIns="0" bIns="0" rtlCol="0" anchor="ctr"/>
          <a:lstStyle/>
          <a:p>
            <a:pPr algn="r" indent="0" marL="0">
              <a:buNone/>
            </a:pPr>
            <a:r>
              <a:rPr lang="en-US" sz="850" b="1" dirty="0">
                <a:solidFill>
                  <a:srgbClr val="1957D2"/>
                </a:solidFill>
                <a:latin typeface="Arial" pitchFamily="34" charset="0"/>
                <a:ea typeface="Arial" pitchFamily="34" charset="-122"/>
                <a:cs typeface="Arial" pitchFamily="34" charset="-120"/>
              </a:rPr>
              <a:t>04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10652760" y="301752"/>
            <a:ext cx="960120" cy="960120"/>
          </a:xfrm>
          <a:prstGeom prst="rect">
            <a:avLst/>
          </a:prstGeom>
          <a:solidFill>
            <a:srgbClr val="1957D2"/>
          </a:solidFill>
          <a:ln w="12700">
            <a:solidFill>
              <a:srgbClr val="1957D2"/>
            </a:solidFill>
            <a:prstDash val="solid"/>
          </a:ln>
        </p:spPr>
      </p:sp>
      <p:sp>
        <p:nvSpPr>
          <p:cNvPr id="3" name="Text 1"/>
          <p:cNvSpPr/>
          <p:nvPr/>
        </p:nvSpPr>
        <p:spPr>
          <a:xfrm>
            <a:off x="621792" y="548640"/>
            <a:ext cx="3840480" cy="228600"/>
          </a:xfrm>
          <a:prstGeom prst="rect">
            <a:avLst/>
          </a:prstGeom>
          <a:noFill/>
          <a:ln/>
        </p:spPr>
        <p:txBody>
          <a:bodyPr wrap="square" lIns="0" tIns="0" rIns="0" bIns="0" rtlCol="0" anchor="ctr"/>
          <a:lstStyle/>
          <a:p>
            <a:pPr indent="0" marL="0">
              <a:buNone/>
            </a:pPr>
            <a:r>
              <a:rPr lang="en-US" sz="950" b="1" dirty="0">
                <a:solidFill>
                  <a:srgbClr val="1957D2"/>
                </a:solidFill>
                <a:latin typeface="Arial" pitchFamily="34" charset="0"/>
                <a:ea typeface="Arial" pitchFamily="34" charset="-122"/>
                <a:cs typeface="Arial" pitchFamily="34" charset="-120"/>
              </a:rPr>
              <a:t>TOKEN COST</a:t>
            </a:r>
            <a:endParaRPr lang="en-US" sz="950" dirty="0"/>
          </a:p>
        </p:txBody>
      </p:sp>
      <p:sp>
        <p:nvSpPr>
          <p:cNvPr id="4" name="Shape 2"/>
          <p:cNvSpPr/>
          <p:nvPr/>
        </p:nvSpPr>
        <p:spPr>
          <a:xfrm>
            <a:off x="621792" y="896112"/>
            <a:ext cx="731520" cy="0"/>
          </a:xfrm>
          <a:prstGeom prst="line">
            <a:avLst/>
          </a:prstGeom>
          <a:noFill/>
          <a:ln w="25400">
            <a:solidFill>
              <a:srgbClr val="1957D2"/>
            </a:solidFill>
            <a:prstDash val="solid"/>
          </a:ln>
        </p:spPr>
      </p:sp>
      <p:sp>
        <p:nvSpPr>
          <p:cNvPr id="5" name="Text 3"/>
          <p:cNvSpPr/>
          <p:nvPr/>
        </p:nvSpPr>
        <p:spPr>
          <a:xfrm>
            <a:off x="621792" y="1005840"/>
            <a:ext cx="7040880" cy="384048"/>
          </a:xfrm>
          <a:prstGeom prst="rect">
            <a:avLst/>
          </a:prstGeom>
          <a:noFill/>
          <a:ln/>
        </p:spPr>
        <p:txBody>
          <a:bodyPr wrap="square" lIns="0" tIns="0" rIns="0" bIns="0" rtlCol="0" anchor="ctr">
            <a:normAutofit/>
          </a:bodyPr>
          <a:lstStyle/>
          <a:p>
            <a:pPr indent="0" marL="0">
              <a:buNone/>
            </a:pPr>
            <a:r>
              <a:rPr lang="en-US" sz="3100" b="1" dirty="0">
                <a:solidFill>
                  <a:srgbClr val="111318"/>
                </a:solidFill>
                <a:latin typeface="Arial" pitchFamily="34" charset="0"/>
                <a:ea typeface="Arial" pitchFamily="34" charset="-122"/>
                <a:cs typeface="Arial" pitchFamily="34" charset="-120"/>
              </a:rPr>
              <a:t>Input cost floor: CSV leads flat tables</a:t>
            </a:r>
            <a:endParaRPr lang="en-US" sz="3100" dirty="0"/>
          </a:p>
        </p:txBody>
      </p:sp>
      <p:pic>
        <p:nvPicPr>
          <p:cNvPr id="6" name="Image 0" descr="/mnt/data/tokenomics_assets/fig1_token_cost.png">    </p:cNvPr>
          <p:cNvPicPr>
            <a:picLocks noChangeAspect="1"/>
          </p:cNvPicPr>
          <p:nvPr/>
        </p:nvPicPr>
        <p:blipFill>
          <a:blip r:embed="rId1"/>
          <a:stretch>
            <a:fillRect/>
          </a:stretch>
        </p:blipFill>
        <p:spPr>
          <a:xfrm>
            <a:off x="658368" y="1830377"/>
            <a:ext cx="6675120" cy="2877207"/>
          </a:xfrm>
          <a:prstGeom prst="rect">
            <a:avLst/>
          </a:prstGeom>
        </p:spPr>
      </p:pic>
      <p:sp>
        <p:nvSpPr>
          <p:cNvPr id="7" name="Text 4"/>
          <p:cNvSpPr/>
          <p:nvPr/>
        </p:nvSpPr>
        <p:spPr>
          <a:xfrm>
            <a:off x="7635240" y="1874520"/>
            <a:ext cx="2377440" cy="320040"/>
          </a:xfrm>
          <a:prstGeom prst="rect">
            <a:avLst/>
          </a:prstGeom>
          <a:noFill/>
          <a:ln/>
        </p:spPr>
        <p:txBody>
          <a:bodyPr wrap="square" lIns="0" tIns="0" rIns="0" bIns="0" rtlCol="0" anchor="ctr"/>
          <a:lstStyle/>
          <a:p>
            <a:pPr indent="0" marL="0">
              <a:buNone/>
            </a:pPr>
            <a:r>
              <a:rPr lang="en-US" sz="1600" b="1" dirty="0">
                <a:solidFill>
                  <a:srgbClr val="111318"/>
                </a:solidFill>
                <a:latin typeface="Arial" pitchFamily="34" charset="0"/>
                <a:ea typeface="Arial" pitchFamily="34" charset="-122"/>
                <a:cs typeface="Arial" pitchFamily="34" charset="-120"/>
              </a:rPr>
              <a:t>Key reading</a:t>
            </a:r>
            <a:endParaRPr lang="en-US" sz="1600" dirty="0"/>
          </a:p>
        </p:txBody>
      </p:sp>
      <p:sp>
        <p:nvSpPr>
          <p:cNvPr id="8" name="Text 5"/>
          <p:cNvSpPr/>
          <p:nvPr/>
        </p:nvSpPr>
        <p:spPr>
          <a:xfrm>
            <a:off x="7635240" y="2331720"/>
            <a:ext cx="3520440" cy="2011680"/>
          </a:xfrm>
          <a:prstGeom prst="rect">
            <a:avLst/>
          </a:prstGeom>
          <a:noFill/>
          <a:ln/>
        </p:spPr>
        <p:txBody>
          <a:bodyPr wrap="square" lIns="635" tIns="635" rIns="635" bIns="635" rtlCol="0" anchor="ctr">
            <a:normAutofit/>
          </a:bodyPr>
          <a:lstStyle/>
          <a:p>
            <a:r>
              <a:rPr lang="en-US" sz="1450" dirty="0">
                <a:solidFill>
                  <a:srgbClr val="4E5868"/>
                </a:solidFill>
                <a:latin typeface="Arial" pitchFamily="34" charset="0"/>
                <a:ea typeface="Arial" pitchFamily="34" charset="-122"/>
                <a:cs typeface="Arial" pitchFamily="34" charset="-120"/>
              </a:rPr>
              <a:t>CSV is the least-expensive representation in this flat-data case.
</a:t>
            </a:r>
            <a:endParaRPr lang="en-US" sz="1450" dirty="0"/>
          </a:p>
          <a:p>
            <a:r>
              <a:rPr lang="en-US" sz="1450" dirty="0">
                <a:solidFill>
                  <a:srgbClr val="4E5868"/>
                </a:solidFill>
                <a:latin typeface="Arial" pitchFamily="34" charset="0"/>
                <a:ea typeface="Arial" pitchFamily="34" charset="-122"/>
                <a:cs typeface="Arial" pitchFamily="34" charset="-120"/>
              </a:rPr>
              <a:t>TOON is 6.0% larger than CSV, but 36.9% smaller than compact JSON.
</a:t>
            </a:r>
            <a:endParaRPr lang="en-US" sz="1450" dirty="0"/>
          </a:p>
          <a:p>
            <a:r>
              <a:rPr lang="en-US" sz="1450" dirty="0">
                <a:solidFill>
                  <a:srgbClr val="4E5868"/>
                </a:solidFill>
                <a:latin typeface="Arial" pitchFamily="34" charset="0"/>
                <a:ea typeface="Arial" pitchFamily="34" charset="-122"/>
                <a:cs typeface="Arial" pitchFamily="34" charset="-120"/>
              </a:rPr>
              <a:t>XML is the most expensive because tag names repeat in opening and closing tags.</a:t>
            </a:r>
            <a:endParaRPr lang="en-US" sz="1450" dirty="0"/>
          </a:p>
        </p:txBody>
      </p:sp>
      <p:sp>
        <p:nvSpPr>
          <p:cNvPr id="9" name="Text 6"/>
          <p:cNvSpPr/>
          <p:nvPr/>
        </p:nvSpPr>
        <p:spPr>
          <a:xfrm>
            <a:off x="713232" y="5166360"/>
            <a:ext cx="9875520" cy="457200"/>
          </a:xfrm>
          <a:prstGeom prst="rect">
            <a:avLst/>
          </a:prstGeom>
          <a:noFill/>
          <a:ln/>
        </p:spPr>
        <p:txBody>
          <a:bodyPr wrap="square" lIns="635" tIns="635" rIns="635" bIns="635" rtlCol="0" anchor="t">
            <a:normAutofit/>
          </a:bodyPr>
          <a:lstStyle/>
          <a:p>
            <a:pPr indent="0" marL="0">
              <a:buNone/>
            </a:pPr>
            <a:r>
              <a:rPr lang="en-US" sz="1700" b="1" dirty="0">
                <a:solidFill>
                  <a:srgbClr val="111318"/>
                </a:solidFill>
                <a:latin typeface="Arial" pitchFamily="34" charset="0"/>
                <a:ea typeface="Arial" pitchFamily="34" charset="-122"/>
                <a:cs typeface="Arial" pitchFamily="34" charset="-120"/>
              </a:rPr>
              <a:t>Production implication: first remove removable whitespace and repeated fields before considering a new serialization grammar.</a:t>
            </a:r>
            <a:endParaRPr lang="en-US" sz="1700" dirty="0"/>
          </a:p>
        </p:txBody>
      </p:sp>
      <p:sp>
        <p:nvSpPr>
          <p:cNvPr id="10" name="Shape 7"/>
          <p:cNvSpPr/>
          <p:nvPr/>
        </p:nvSpPr>
        <p:spPr>
          <a:xfrm>
            <a:off x="594360" y="6428232"/>
            <a:ext cx="10835640" cy="0"/>
          </a:xfrm>
          <a:prstGeom prst="line">
            <a:avLst/>
          </a:prstGeom>
          <a:noFill/>
          <a:ln w="8890">
            <a:solidFill>
              <a:srgbClr val="CBD3DF"/>
            </a:solidFill>
            <a:prstDash val="solid"/>
          </a:ln>
        </p:spPr>
      </p:sp>
      <p:pic>
        <p:nvPicPr>
          <p:cNvPr id="11" name="Image 1" descr="/mnt/data/tokenomics_assets/logo_footer.png">    </p:cNvPr>
          <p:cNvPicPr>
            <a:picLocks noChangeAspect="1"/>
          </p:cNvPicPr>
          <p:nvPr/>
        </p:nvPicPr>
        <p:blipFill>
          <a:blip r:embed="rId2"/>
          <a:stretch>
            <a:fillRect/>
          </a:stretch>
        </p:blipFill>
        <p:spPr>
          <a:xfrm>
            <a:off x="865280" y="6510528"/>
            <a:ext cx="820615" cy="228600"/>
          </a:xfrm>
          <a:prstGeom prst="rect">
            <a:avLst/>
          </a:prstGeom>
        </p:spPr>
      </p:pic>
      <p:sp>
        <p:nvSpPr>
          <p:cNvPr id="12" name="Text 8"/>
          <p:cNvSpPr/>
          <p:nvPr/>
        </p:nvSpPr>
        <p:spPr>
          <a:xfrm>
            <a:off x="2057400" y="6510528"/>
            <a:ext cx="3931920" cy="182880"/>
          </a:xfrm>
          <a:prstGeom prst="rect">
            <a:avLst/>
          </a:prstGeom>
          <a:noFill/>
          <a:ln/>
        </p:spPr>
        <p:txBody>
          <a:bodyPr wrap="square" lIns="0" tIns="0" rIns="0" bIns="0" rtlCol="0" anchor="ctr"/>
          <a:lstStyle/>
          <a:p>
            <a:pPr indent="0" marL="0">
              <a:buNone/>
            </a:pPr>
            <a:r>
              <a:rPr lang="en-US" sz="750" dirty="0">
                <a:solidFill>
                  <a:srgbClr val="6B7280"/>
                </a:solidFill>
                <a:latin typeface="Arial" pitchFamily="34" charset="0"/>
                <a:ea typeface="Arial" pitchFamily="34" charset="-122"/>
                <a:cs typeface="Arial" pitchFamily="34" charset="-120"/>
              </a:rPr>
              <a:t>Prompt Ecology, Reverse Engineering —Embodied Agencies</a:t>
            </a:r>
            <a:endParaRPr lang="en-US" sz="750" dirty="0"/>
          </a:p>
        </p:txBody>
      </p:sp>
      <p:sp>
        <p:nvSpPr>
          <p:cNvPr id="13" name="Text 9"/>
          <p:cNvSpPr/>
          <p:nvPr/>
        </p:nvSpPr>
        <p:spPr>
          <a:xfrm>
            <a:off x="11064240" y="6473952"/>
            <a:ext cx="548640" cy="228600"/>
          </a:xfrm>
          <a:prstGeom prst="rect">
            <a:avLst/>
          </a:prstGeom>
          <a:noFill/>
          <a:ln/>
        </p:spPr>
        <p:txBody>
          <a:bodyPr wrap="square" lIns="0" tIns="0" rIns="0" bIns="0" rtlCol="0" anchor="ctr"/>
          <a:lstStyle/>
          <a:p>
            <a:pPr algn="r" indent="0" marL="0">
              <a:buNone/>
            </a:pPr>
            <a:r>
              <a:rPr lang="en-US" sz="850" b="1" dirty="0">
                <a:solidFill>
                  <a:srgbClr val="1957D2"/>
                </a:solidFill>
                <a:latin typeface="Arial" pitchFamily="34" charset="0"/>
                <a:ea typeface="Arial" pitchFamily="34" charset="-122"/>
                <a:cs typeface="Arial" pitchFamily="34" charset="-120"/>
              </a:rPr>
              <a:t>05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10652760" y="301752"/>
            <a:ext cx="960120" cy="960120"/>
          </a:xfrm>
          <a:prstGeom prst="rect">
            <a:avLst/>
          </a:prstGeom>
          <a:solidFill>
            <a:srgbClr val="1957D2"/>
          </a:solidFill>
          <a:ln w="12700">
            <a:solidFill>
              <a:srgbClr val="1957D2"/>
            </a:solidFill>
            <a:prstDash val="solid"/>
          </a:ln>
        </p:spPr>
      </p:sp>
      <p:sp>
        <p:nvSpPr>
          <p:cNvPr id="3" name="Text 1"/>
          <p:cNvSpPr/>
          <p:nvPr/>
        </p:nvSpPr>
        <p:spPr>
          <a:xfrm>
            <a:off x="621792" y="548640"/>
            <a:ext cx="3840480" cy="228600"/>
          </a:xfrm>
          <a:prstGeom prst="rect">
            <a:avLst/>
          </a:prstGeom>
          <a:noFill/>
          <a:ln/>
        </p:spPr>
        <p:txBody>
          <a:bodyPr wrap="square" lIns="0" tIns="0" rIns="0" bIns="0" rtlCol="0" anchor="ctr"/>
          <a:lstStyle/>
          <a:p>
            <a:pPr indent="0" marL="0">
              <a:buNone/>
            </a:pPr>
            <a:r>
              <a:rPr lang="en-US" sz="950" b="1" dirty="0">
                <a:solidFill>
                  <a:srgbClr val="1957D2"/>
                </a:solidFill>
                <a:latin typeface="Arial" pitchFamily="34" charset="0"/>
                <a:ea typeface="Arial" pitchFamily="34" charset="-122"/>
                <a:cs typeface="Arial" pitchFamily="34" charset="-120"/>
              </a:rPr>
              <a:t>FORMAT SELECTION</a:t>
            </a:r>
            <a:endParaRPr lang="en-US" sz="950" dirty="0"/>
          </a:p>
        </p:txBody>
      </p:sp>
      <p:sp>
        <p:nvSpPr>
          <p:cNvPr id="4" name="Shape 2"/>
          <p:cNvSpPr/>
          <p:nvPr/>
        </p:nvSpPr>
        <p:spPr>
          <a:xfrm>
            <a:off x="621792" y="896112"/>
            <a:ext cx="731520" cy="0"/>
          </a:xfrm>
          <a:prstGeom prst="line">
            <a:avLst/>
          </a:prstGeom>
          <a:noFill/>
          <a:ln w="25400">
            <a:solidFill>
              <a:srgbClr val="1957D2"/>
            </a:solidFill>
            <a:prstDash val="solid"/>
          </a:ln>
        </p:spPr>
      </p:sp>
      <p:sp>
        <p:nvSpPr>
          <p:cNvPr id="5" name="Text 3"/>
          <p:cNvSpPr/>
          <p:nvPr/>
        </p:nvSpPr>
        <p:spPr>
          <a:xfrm>
            <a:off x="621792" y="1005840"/>
            <a:ext cx="7040880" cy="384048"/>
          </a:xfrm>
          <a:prstGeom prst="rect">
            <a:avLst/>
          </a:prstGeom>
          <a:noFill/>
          <a:ln/>
        </p:spPr>
        <p:txBody>
          <a:bodyPr wrap="square" lIns="0" tIns="0" rIns="0" bIns="0" rtlCol="0" anchor="ctr">
            <a:normAutofit/>
          </a:bodyPr>
          <a:lstStyle/>
          <a:p>
            <a:pPr indent="0" marL="0">
              <a:buNone/>
            </a:pPr>
            <a:r>
              <a:rPr lang="en-US" sz="3100" b="1" dirty="0">
                <a:solidFill>
                  <a:srgbClr val="111318"/>
                </a:solidFill>
                <a:latin typeface="Arial" pitchFamily="34" charset="0"/>
                <a:ea typeface="Arial" pitchFamily="34" charset="-122"/>
                <a:cs typeface="Arial" pitchFamily="34" charset="-120"/>
              </a:rPr>
              <a:t>Shape drives the format choice</a:t>
            </a:r>
            <a:endParaRPr lang="en-US" sz="3100" dirty="0"/>
          </a:p>
        </p:txBody>
      </p:sp>
      <p:pic>
        <p:nvPicPr>
          <p:cNvPr id="6" name="Image 0" descr="/mnt/data/tokenomics_assets/format_tradeoffs_table.png">    </p:cNvPr>
          <p:cNvPicPr>
            <a:picLocks noChangeAspect="1"/>
          </p:cNvPicPr>
          <p:nvPr/>
        </p:nvPicPr>
        <p:blipFill>
          <a:blip r:embed="rId1"/>
          <a:stretch>
            <a:fillRect/>
          </a:stretch>
        </p:blipFill>
        <p:spPr>
          <a:xfrm>
            <a:off x="915844" y="1508760"/>
            <a:ext cx="5474368" cy="4160520"/>
          </a:xfrm>
          <a:prstGeom prst="rect">
            <a:avLst/>
          </a:prstGeom>
        </p:spPr>
      </p:pic>
      <p:sp>
        <p:nvSpPr>
          <p:cNvPr id="7" name="Text 4"/>
          <p:cNvSpPr/>
          <p:nvPr/>
        </p:nvSpPr>
        <p:spPr>
          <a:xfrm>
            <a:off x="7040880" y="1600200"/>
            <a:ext cx="3291840" cy="320040"/>
          </a:xfrm>
          <a:prstGeom prst="rect">
            <a:avLst/>
          </a:prstGeom>
          <a:noFill/>
          <a:ln/>
        </p:spPr>
        <p:txBody>
          <a:bodyPr wrap="square" lIns="0" tIns="0" rIns="0" bIns="0" rtlCol="0" anchor="ctr"/>
          <a:lstStyle/>
          <a:p>
            <a:pPr indent="0" marL="0">
              <a:buNone/>
            </a:pPr>
            <a:r>
              <a:rPr lang="en-US" sz="1800" b="1" dirty="0">
                <a:solidFill>
                  <a:srgbClr val="111318"/>
                </a:solidFill>
                <a:latin typeface="Arial" pitchFamily="34" charset="0"/>
                <a:ea typeface="Arial" pitchFamily="34" charset="-122"/>
                <a:cs typeface="Arial" pitchFamily="34" charset="-120"/>
              </a:rPr>
              <a:t>The mistake to avoid</a:t>
            </a:r>
            <a:endParaRPr lang="en-US" sz="1800" dirty="0"/>
          </a:p>
        </p:txBody>
      </p:sp>
      <p:sp>
        <p:nvSpPr>
          <p:cNvPr id="8" name="Text 5"/>
          <p:cNvSpPr/>
          <p:nvPr/>
        </p:nvSpPr>
        <p:spPr>
          <a:xfrm>
            <a:off x="7040880" y="2057400"/>
            <a:ext cx="4160520" cy="1143000"/>
          </a:xfrm>
          <a:prstGeom prst="rect">
            <a:avLst/>
          </a:prstGeom>
          <a:noFill/>
          <a:ln/>
        </p:spPr>
        <p:txBody>
          <a:bodyPr wrap="square" lIns="635" tIns="635" rIns="635" bIns="635" rtlCol="0" anchor="t">
            <a:normAutofit/>
          </a:bodyPr>
          <a:lstStyle/>
          <a:p>
            <a:pPr indent="0" marL="0">
              <a:buNone/>
            </a:pPr>
            <a:r>
              <a:rPr lang="en-US" sz="1600" dirty="0">
                <a:solidFill>
                  <a:srgbClr val="4E5868"/>
                </a:solidFill>
                <a:latin typeface="Arial" pitchFamily="34" charset="0"/>
                <a:ea typeface="Arial" pitchFamily="34" charset="-122"/>
                <a:cs typeface="Arial" pitchFamily="34" charset="-120"/>
              </a:rPr>
              <a:t>A format can be excellent for uniform arrays and still be weaker for mixed structures. The report notes TOON can become 14.7% larger than compact JSON across a mixed-structure track.</a:t>
            </a:r>
            <a:endParaRPr lang="en-US" sz="1600" dirty="0"/>
          </a:p>
        </p:txBody>
      </p:sp>
      <p:sp>
        <p:nvSpPr>
          <p:cNvPr id="9" name="Text 6"/>
          <p:cNvSpPr/>
          <p:nvPr/>
        </p:nvSpPr>
        <p:spPr>
          <a:xfrm>
            <a:off x="7086600" y="3520440"/>
            <a:ext cx="1920240" cy="201168"/>
          </a:xfrm>
          <a:prstGeom prst="rect">
            <a:avLst/>
          </a:prstGeom>
          <a:noFill/>
          <a:ln/>
        </p:spPr>
        <p:txBody>
          <a:bodyPr wrap="square" lIns="0" tIns="0" rIns="0" bIns="0" rtlCol="0" anchor="ctr"/>
          <a:lstStyle/>
          <a:p>
            <a:pPr indent="0" marL="0">
              <a:buNone/>
            </a:pPr>
            <a:r>
              <a:rPr lang="en-US" sz="780" b="1" dirty="0">
                <a:solidFill>
                  <a:srgbClr val="4E5868"/>
                </a:solidFill>
                <a:latin typeface="Arial" pitchFamily="34" charset="0"/>
                <a:ea typeface="Arial" pitchFamily="34" charset="-122"/>
                <a:cs typeface="Arial" pitchFamily="34" charset="-120"/>
              </a:rPr>
              <a:t>DEFAULT</a:t>
            </a:r>
            <a:endParaRPr lang="en-US" sz="780" dirty="0"/>
          </a:p>
        </p:txBody>
      </p:sp>
      <p:sp>
        <p:nvSpPr>
          <p:cNvPr id="10" name="Text 7"/>
          <p:cNvSpPr/>
          <p:nvPr/>
        </p:nvSpPr>
        <p:spPr>
          <a:xfrm>
            <a:off x="7086600" y="3794760"/>
            <a:ext cx="1920240" cy="384048"/>
          </a:xfrm>
          <a:prstGeom prst="rect">
            <a:avLst/>
          </a:prstGeom>
          <a:noFill/>
          <a:ln/>
        </p:spPr>
        <p:txBody>
          <a:bodyPr wrap="square" lIns="0" tIns="0" rIns="0" bIns="0" rtlCol="0" anchor="ctr">
            <a:normAutofit/>
          </a:bodyPr>
          <a:lstStyle/>
          <a:p>
            <a:pPr indent="0" marL="0">
              <a:buNone/>
            </a:pPr>
            <a:r>
              <a:rPr lang="en-US" sz="2600" b="1" dirty="0">
                <a:solidFill>
                  <a:srgbClr val="1957D2"/>
                </a:solidFill>
                <a:latin typeface="Arial" pitchFamily="34" charset="0"/>
                <a:ea typeface="Arial" pitchFamily="34" charset="-122"/>
                <a:cs typeface="Arial" pitchFamily="34" charset="-120"/>
              </a:rPr>
              <a:t>Compact JSON</a:t>
            </a:r>
            <a:endParaRPr lang="en-US" sz="2600" dirty="0"/>
          </a:p>
        </p:txBody>
      </p:sp>
      <p:sp>
        <p:nvSpPr>
          <p:cNvPr id="11" name="Shape 8"/>
          <p:cNvSpPr/>
          <p:nvPr/>
        </p:nvSpPr>
        <p:spPr>
          <a:xfrm>
            <a:off x="7086600" y="4270248"/>
            <a:ext cx="1371600" cy="0"/>
          </a:xfrm>
          <a:prstGeom prst="line">
            <a:avLst/>
          </a:prstGeom>
          <a:noFill/>
          <a:ln w="15240">
            <a:solidFill>
              <a:srgbClr val="1957D2"/>
            </a:solidFill>
            <a:prstDash val="solid"/>
          </a:ln>
        </p:spPr>
      </p:sp>
      <p:sp>
        <p:nvSpPr>
          <p:cNvPr id="12" name="Text 9"/>
          <p:cNvSpPr/>
          <p:nvPr/>
        </p:nvSpPr>
        <p:spPr>
          <a:xfrm>
            <a:off x="7086600" y="4398264"/>
            <a:ext cx="1920240" cy="246888"/>
          </a:xfrm>
          <a:prstGeom prst="rect">
            <a:avLst/>
          </a:prstGeom>
          <a:noFill/>
          <a:ln/>
        </p:spPr>
        <p:txBody>
          <a:bodyPr wrap="square" lIns="254" tIns="254" rIns="254" bIns="254" rtlCol="0" anchor="ctr">
            <a:normAutofit/>
          </a:bodyPr>
          <a:lstStyle/>
          <a:p>
            <a:pPr indent="0" marL="0">
              <a:buNone/>
            </a:pPr>
            <a:r>
              <a:rPr lang="en-US" sz="1070" dirty="0">
                <a:solidFill>
                  <a:srgbClr val="4E5868"/>
                </a:solidFill>
                <a:latin typeface="Arial" pitchFamily="34" charset="0"/>
                <a:ea typeface="Arial" pitchFamily="34" charset="-122"/>
                <a:cs typeface="Arial" pitchFamily="34" charset="-120"/>
              </a:rPr>
              <a:t>Best baseline for nested, heterogeneous, API-facing data.</a:t>
            </a:r>
            <a:endParaRPr lang="en-US" sz="1070" dirty="0"/>
          </a:p>
        </p:txBody>
      </p:sp>
      <p:sp>
        <p:nvSpPr>
          <p:cNvPr id="13" name="Text 10"/>
          <p:cNvSpPr/>
          <p:nvPr/>
        </p:nvSpPr>
        <p:spPr>
          <a:xfrm>
            <a:off x="9253728" y="3520440"/>
            <a:ext cx="1920240" cy="201168"/>
          </a:xfrm>
          <a:prstGeom prst="rect">
            <a:avLst/>
          </a:prstGeom>
          <a:noFill/>
          <a:ln/>
        </p:spPr>
        <p:txBody>
          <a:bodyPr wrap="square" lIns="0" tIns="0" rIns="0" bIns="0" rtlCol="0" anchor="ctr"/>
          <a:lstStyle/>
          <a:p>
            <a:pPr indent="0" marL="0">
              <a:buNone/>
            </a:pPr>
            <a:r>
              <a:rPr lang="en-US" sz="780" b="1" dirty="0">
                <a:solidFill>
                  <a:srgbClr val="4E5868"/>
                </a:solidFill>
                <a:latin typeface="Arial" pitchFamily="34" charset="0"/>
                <a:ea typeface="Arial" pitchFamily="34" charset="-122"/>
                <a:cs typeface="Arial" pitchFamily="34" charset="-120"/>
              </a:rPr>
              <a:t>EXCEPTION</a:t>
            </a:r>
            <a:endParaRPr lang="en-US" sz="780" dirty="0"/>
          </a:p>
        </p:txBody>
      </p:sp>
      <p:sp>
        <p:nvSpPr>
          <p:cNvPr id="14" name="Text 11"/>
          <p:cNvSpPr/>
          <p:nvPr/>
        </p:nvSpPr>
        <p:spPr>
          <a:xfrm>
            <a:off x="9253728" y="3794760"/>
            <a:ext cx="1920240" cy="384048"/>
          </a:xfrm>
          <a:prstGeom prst="rect">
            <a:avLst/>
          </a:prstGeom>
          <a:noFill/>
          <a:ln/>
        </p:spPr>
        <p:txBody>
          <a:bodyPr wrap="square" lIns="0" tIns="0" rIns="0" bIns="0" rtlCol="0" anchor="ctr">
            <a:normAutofit/>
          </a:bodyPr>
          <a:lstStyle/>
          <a:p>
            <a:pPr indent="0" marL="0">
              <a:buNone/>
            </a:pPr>
            <a:r>
              <a:rPr lang="en-US" sz="2600" b="1" dirty="0">
                <a:solidFill>
                  <a:srgbClr val="1F7B59"/>
                </a:solidFill>
                <a:latin typeface="Arial" pitchFamily="34" charset="0"/>
                <a:ea typeface="Arial" pitchFamily="34" charset="-122"/>
                <a:cs typeface="Arial" pitchFamily="34" charset="-120"/>
              </a:rPr>
              <a:t>CSV / TOON</a:t>
            </a:r>
            <a:endParaRPr lang="en-US" sz="2600" dirty="0"/>
          </a:p>
        </p:txBody>
      </p:sp>
      <p:sp>
        <p:nvSpPr>
          <p:cNvPr id="15" name="Shape 12"/>
          <p:cNvSpPr/>
          <p:nvPr/>
        </p:nvSpPr>
        <p:spPr>
          <a:xfrm>
            <a:off x="9253728" y="4270248"/>
            <a:ext cx="1371600" cy="0"/>
          </a:xfrm>
          <a:prstGeom prst="line">
            <a:avLst/>
          </a:prstGeom>
          <a:noFill/>
          <a:ln w="15240">
            <a:solidFill>
              <a:srgbClr val="1F7B59"/>
            </a:solidFill>
            <a:prstDash val="solid"/>
          </a:ln>
        </p:spPr>
      </p:sp>
      <p:sp>
        <p:nvSpPr>
          <p:cNvPr id="16" name="Text 13"/>
          <p:cNvSpPr/>
          <p:nvPr/>
        </p:nvSpPr>
        <p:spPr>
          <a:xfrm>
            <a:off x="9253728" y="4398264"/>
            <a:ext cx="1920240" cy="246888"/>
          </a:xfrm>
          <a:prstGeom prst="rect">
            <a:avLst/>
          </a:prstGeom>
          <a:noFill/>
          <a:ln/>
        </p:spPr>
        <p:txBody>
          <a:bodyPr wrap="square" lIns="254" tIns="254" rIns="254" bIns="254" rtlCol="0" anchor="ctr">
            <a:normAutofit/>
          </a:bodyPr>
          <a:lstStyle/>
          <a:p>
            <a:pPr indent="0" marL="0">
              <a:buNone/>
            </a:pPr>
            <a:r>
              <a:rPr lang="en-US" sz="1070" dirty="0">
                <a:solidFill>
                  <a:srgbClr val="4E5868"/>
                </a:solidFill>
                <a:latin typeface="Arial" pitchFamily="34" charset="0"/>
                <a:ea typeface="Arial" pitchFamily="34" charset="-122"/>
                <a:cs typeface="Arial" pitchFamily="34" charset="-120"/>
              </a:rPr>
              <a:t>Strongest only when the data shape is flat or uniform enough.</a:t>
            </a:r>
            <a:endParaRPr lang="en-US" sz="1070" dirty="0"/>
          </a:p>
        </p:txBody>
      </p:sp>
      <p:sp>
        <p:nvSpPr>
          <p:cNvPr id="17" name="Shape 14"/>
          <p:cNvSpPr/>
          <p:nvPr/>
        </p:nvSpPr>
        <p:spPr>
          <a:xfrm>
            <a:off x="594360" y="6428232"/>
            <a:ext cx="10835640" cy="0"/>
          </a:xfrm>
          <a:prstGeom prst="line">
            <a:avLst/>
          </a:prstGeom>
          <a:noFill/>
          <a:ln w="8890">
            <a:solidFill>
              <a:srgbClr val="CBD3DF"/>
            </a:solidFill>
            <a:prstDash val="solid"/>
          </a:ln>
        </p:spPr>
      </p:sp>
      <p:pic>
        <p:nvPicPr>
          <p:cNvPr id="18" name="Image 1" descr="/mnt/data/tokenomics_assets/logo_footer.png">    </p:cNvPr>
          <p:cNvPicPr>
            <a:picLocks noChangeAspect="1"/>
          </p:cNvPicPr>
          <p:nvPr/>
        </p:nvPicPr>
        <p:blipFill>
          <a:blip r:embed="rId2"/>
          <a:stretch>
            <a:fillRect/>
          </a:stretch>
        </p:blipFill>
        <p:spPr>
          <a:xfrm>
            <a:off x="865280" y="6510528"/>
            <a:ext cx="820615" cy="228600"/>
          </a:xfrm>
          <a:prstGeom prst="rect">
            <a:avLst/>
          </a:prstGeom>
        </p:spPr>
      </p:pic>
      <p:sp>
        <p:nvSpPr>
          <p:cNvPr id="19" name="Text 15"/>
          <p:cNvSpPr/>
          <p:nvPr/>
        </p:nvSpPr>
        <p:spPr>
          <a:xfrm>
            <a:off x="2057400" y="6510528"/>
            <a:ext cx="3931920" cy="182880"/>
          </a:xfrm>
          <a:prstGeom prst="rect">
            <a:avLst/>
          </a:prstGeom>
          <a:noFill/>
          <a:ln/>
        </p:spPr>
        <p:txBody>
          <a:bodyPr wrap="square" lIns="0" tIns="0" rIns="0" bIns="0" rtlCol="0" anchor="ctr"/>
          <a:lstStyle/>
          <a:p>
            <a:pPr indent="0" marL="0">
              <a:buNone/>
            </a:pPr>
            <a:r>
              <a:rPr lang="en-US" sz="750" dirty="0">
                <a:solidFill>
                  <a:srgbClr val="6B7280"/>
                </a:solidFill>
                <a:latin typeface="Arial" pitchFamily="34" charset="0"/>
                <a:ea typeface="Arial" pitchFamily="34" charset="-122"/>
                <a:cs typeface="Arial" pitchFamily="34" charset="-120"/>
              </a:rPr>
              <a:t>Prompt Ecology, Reverse Engineering —Embodied Agencies</a:t>
            </a:r>
            <a:endParaRPr lang="en-US" sz="750" dirty="0"/>
          </a:p>
        </p:txBody>
      </p:sp>
      <p:sp>
        <p:nvSpPr>
          <p:cNvPr id="20" name="Text 16"/>
          <p:cNvSpPr/>
          <p:nvPr/>
        </p:nvSpPr>
        <p:spPr>
          <a:xfrm>
            <a:off x="11064240" y="6473952"/>
            <a:ext cx="548640" cy="228600"/>
          </a:xfrm>
          <a:prstGeom prst="rect">
            <a:avLst/>
          </a:prstGeom>
          <a:noFill/>
          <a:ln/>
        </p:spPr>
        <p:txBody>
          <a:bodyPr wrap="square" lIns="0" tIns="0" rIns="0" bIns="0" rtlCol="0" anchor="ctr"/>
          <a:lstStyle/>
          <a:p>
            <a:pPr algn="r" indent="0" marL="0">
              <a:buNone/>
            </a:pPr>
            <a:r>
              <a:rPr lang="en-US" sz="850" b="1" dirty="0">
                <a:solidFill>
                  <a:srgbClr val="1957D2"/>
                </a:solidFill>
                <a:latin typeface="Arial" pitchFamily="34" charset="0"/>
                <a:ea typeface="Arial" pitchFamily="34" charset="-122"/>
                <a:cs typeface="Arial" pitchFamily="34" charset="-120"/>
              </a:rPr>
              <a:t>06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10652760" y="301752"/>
            <a:ext cx="960120" cy="960120"/>
          </a:xfrm>
          <a:prstGeom prst="rect">
            <a:avLst/>
          </a:prstGeom>
          <a:solidFill>
            <a:srgbClr val="1957D2"/>
          </a:solidFill>
          <a:ln w="12700">
            <a:solidFill>
              <a:srgbClr val="1957D2"/>
            </a:solidFill>
            <a:prstDash val="solid"/>
          </a:ln>
        </p:spPr>
      </p:sp>
      <p:sp>
        <p:nvSpPr>
          <p:cNvPr id="3" name="Text 1"/>
          <p:cNvSpPr/>
          <p:nvPr/>
        </p:nvSpPr>
        <p:spPr>
          <a:xfrm>
            <a:off x="621792" y="548640"/>
            <a:ext cx="3840480" cy="228600"/>
          </a:xfrm>
          <a:prstGeom prst="rect">
            <a:avLst/>
          </a:prstGeom>
          <a:noFill/>
          <a:ln/>
        </p:spPr>
        <p:txBody>
          <a:bodyPr wrap="square" lIns="0" tIns="0" rIns="0" bIns="0" rtlCol="0" anchor="ctr"/>
          <a:lstStyle/>
          <a:p>
            <a:pPr indent="0" marL="0">
              <a:buNone/>
            </a:pPr>
            <a:r>
              <a:rPr lang="en-US" sz="950" b="1" dirty="0">
                <a:solidFill>
                  <a:srgbClr val="1957D2"/>
                </a:solidFill>
                <a:latin typeface="Arial" pitchFamily="34" charset="0"/>
                <a:ea typeface="Arial" pitchFamily="34" charset="-122"/>
                <a:cs typeface="Arial" pitchFamily="34" charset="-120"/>
              </a:rPr>
              <a:t>ACCURACY TRADE-OFF</a:t>
            </a:r>
            <a:endParaRPr lang="en-US" sz="950" dirty="0"/>
          </a:p>
        </p:txBody>
      </p:sp>
      <p:sp>
        <p:nvSpPr>
          <p:cNvPr id="4" name="Shape 2"/>
          <p:cNvSpPr/>
          <p:nvPr/>
        </p:nvSpPr>
        <p:spPr>
          <a:xfrm>
            <a:off x="621792" y="896112"/>
            <a:ext cx="731520" cy="0"/>
          </a:xfrm>
          <a:prstGeom prst="line">
            <a:avLst/>
          </a:prstGeom>
          <a:noFill/>
          <a:ln w="25400">
            <a:solidFill>
              <a:srgbClr val="1957D2"/>
            </a:solidFill>
            <a:prstDash val="solid"/>
          </a:ln>
        </p:spPr>
      </p:sp>
      <p:sp>
        <p:nvSpPr>
          <p:cNvPr id="5" name="Text 3"/>
          <p:cNvSpPr/>
          <p:nvPr/>
        </p:nvSpPr>
        <p:spPr>
          <a:xfrm>
            <a:off x="621792" y="1005840"/>
            <a:ext cx="7040880" cy="384048"/>
          </a:xfrm>
          <a:prstGeom prst="rect">
            <a:avLst/>
          </a:prstGeom>
          <a:noFill/>
          <a:ln/>
        </p:spPr>
        <p:txBody>
          <a:bodyPr wrap="square" lIns="0" tIns="0" rIns="0" bIns="0" rtlCol="0" anchor="ctr">
            <a:normAutofit/>
          </a:bodyPr>
          <a:lstStyle/>
          <a:p>
            <a:pPr indent="0" marL="0">
              <a:buNone/>
            </a:pPr>
            <a:r>
              <a:rPr lang="en-US" sz="3100" b="1" dirty="0">
                <a:solidFill>
                  <a:srgbClr val="111318"/>
                </a:solidFill>
                <a:latin typeface="Arial" pitchFamily="34" charset="0"/>
                <a:ea typeface="Arial" pitchFamily="34" charset="-122"/>
                <a:cs typeface="Arial" pitchFamily="34" charset="-120"/>
              </a:rPr>
              <a:t>Cheapest is not always best</a:t>
            </a:r>
            <a:endParaRPr lang="en-US" sz="3100" dirty="0"/>
          </a:p>
        </p:txBody>
      </p:sp>
      <p:pic>
        <p:nvPicPr>
          <p:cNvPr id="6" name="Image 0" descr="/mnt/data/tokenomics_assets/fig2_scatter.png">    </p:cNvPr>
          <p:cNvPicPr>
            <a:picLocks noChangeAspect="1"/>
          </p:cNvPicPr>
          <p:nvPr/>
        </p:nvPicPr>
        <p:blipFill>
          <a:blip r:embed="rId1"/>
          <a:stretch>
            <a:fillRect/>
          </a:stretch>
        </p:blipFill>
        <p:spPr>
          <a:xfrm>
            <a:off x="658368" y="1818132"/>
            <a:ext cx="6537960" cy="3486912"/>
          </a:xfrm>
          <a:prstGeom prst="rect">
            <a:avLst/>
          </a:prstGeom>
        </p:spPr>
      </p:pic>
      <p:sp>
        <p:nvSpPr>
          <p:cNvPr id="7" name="Text 4"/>
          <p:cNvSpPr/>
          <p:nvPr/>
        </p:nvSpPr>
        <p:spPr>
          <a:xfrm>
            <a:off x="7543800" y="1645920"/>
            <a:ext cx="3474720" cy="320040"/>
          </a:xfrm>
          <a:prstGeom prst="rect">
            <a:avLst/>
          </a:prstGeom>
          <a:noFill/>
          <a:ln/>
        </p:spPr>
        <p:txBody>
          <a:bodyPr wrap="square" lIns="0" tIns="0" rIns="0" bIns="0" rtlCol="0" anchor="ctr"/>
          <a:lstStyle/>
          <a:p>
            <a:pPr indent="0" marL="0">
              <a:buNone/>
            </a:pPr>
            <a:r>
              <a:rPr lang="en-US" sz="1800" b="1" dirty="0">
                <a:solidFill>
                  <a:srgbClr val="111318"/>
                </a:solidFill>
                <a:latin typeface="Arial" pitchFamily="34" charset="0"/>
                <a:ea typeface="Arial" pitchFamily="34" charset="-122"/>
                <a:cs typeface="Arial" pitchFamily="34" charset="-120"/>
              </a:rPr>
              <a:t>What changes the decision</a:t>
            </a:r>
            <a:endParaRPr lang="en-US" sz="1800" dirty="0"/>
          </a:p>
        </p:txBody>
      </p:sp>
      <p:sp>
        <p:nvSpPr>
          <p:cNvPr id="8" name="Text 5"/>
          <p:cNvSpPr/>
          <p:nvPr/>
        </p:nvSpPr>
        <p:spPr>
          <a:xfrm>
            <a:off x="7543800" y="2057400"/>
            <a:ext cx="3931920" cy="1874520"/>
          </a:xfrm>
          <a:prstGeom prst="rect">
            <a:avLst/>
          </a:prstGeom>
          <a:noFill/>
          <a:ln/>
        </p:spPr>
        <p:txBody>
          <a:bodyPr wrap="square" lIns="635" tIns="635" rIns="635" bIns="635" rtlCol="0" anchor="ctr">
            <a:normAutofit/>
          </a:bodyPr>
          <a:lstStyle/>
          <a:p>
            <a:r>
              <a:rPr lang="en-US" sz="1450" dirty="0">
                <a:solidFill>
                  <a:srgbClr val="4E5868"/>
                </a:solidFill>
                <a:latin typeface="Arial" pitchFamily="34" charset="0"/>
                <a:ea typeface="Arial" pitchFamily="34" charset="-122"/>
                <a:cs typeface="Arial" pitchFamily="34" charset="-120"/>
              </a:rPr>
              <a:t>Markdown-KV leads accuracy at 60.7%, but uses 52,104 tokens.
</a:t>
            </a:r>
            <a:endParaRPr lang="en-US" sz="1450" dirty="0"/>
          </a:p>
          <a:p>
            <a:r>
              <a:rPr lang="en-US" sz="1450" dirty="0">
                <a:solidFill>
                  <a:srgbClr val="4E5868"/>
                </a:solidFill>
                <a:latin typeface="Arial" pitchFamily="34" charset="0"/>
                <a:ea typeface="Arial" pitchFamily="34" charset="-122"/>
                <a:cs typeface="Arial" pitchFamily="34" charset="-120"/>
              </a:rPr>
              <a:t>CSV is cheapest at 19,524 tokens, but scored 44.3%.
</a:t>
            </a:r>
            <a:endParaRPr lang="en-US" sz="1450" dirty="0"/>
          </a:p>
          <a:p>
            <a:r>
              <a:rPr lang="en-US" sz="1450" dirty="0">
                <a:solidFill>
                  <a:srgbClr val="4E5868"/>
                </a:solidFill>
                <a:latin typeface="Arial" pitchFamily="34" charset="0"/>
                <a:ea typeface="Arial" pitchFamily="34" charset="-122"/>
                <a:cs typeface="Arial" pitchFamily="34" charset="-120"/>
              </a:rPr>
              <a:t>Markdown table is the strongest compact compromise in this benchmark.</a:t>
            </a:r>
            <a:endParaRPr lang="en-US" sz="1450" dirty="0"/>
          </a:p>
        </p:txBody>
      </p:sp>
      <p:sp>
        <p:nvSpPr>
          <p:cNvPr id="9" name="Text 6"/>
          <p:cNvSpPr/>
          <p:nvPr/>
        </p:nvSpPr>
        <p:spPr>
          <a:xfrm>
            <a:off x="7543800" y="4526280"/>
            <a:ext cx="3886200" cy="685800"/>
          </a:xfrm>
          <a:prstGeom prst="rect">
            <a:avLst/>
          </a:prstGeom>
          <a:noFill/>
          <a:ln/>
        </p:spPr>
        <p:txBody>
          <a:bodyPr wrap="square" lIns="635" tIns="635" rIns="635" bIns="635" rtlCol="0" anchor="t">
            <a:normAutofit/>
          </a:bodyPr>
          <a:lstStyle/>
          <a:p>
            <a:pPr indent="0" marL="0">
              <a:buNone/>
            </a:pPr>
            <a:r>
              <a:rPr lang="en-US" sz="1550" b="1" dirty="0">
                <a:solidFill>
                  <a:srgbClr val="111318"/>
                </a:solidFill>
                <a:latin typeface="Arial" pitchFamily="34" charset="0"/>
                <a:ea typeface="Arial" pitchFamily="34" charset="-122"/>
                <a:cs typeface="Arial" pitchFamily="34" charset="-120"/>
              </a:rPr>
              <a:t>This is not a universal ranking; it is one model, one synthetic dataset, and one retrieval task.</a:t>
            </a:r>
            <a:endParaRPr lang="en-US" sz="1550" dirty="0"/>
          </a:p>
        </p:txBody>
      </p:sp>
      <p:sp>
        <p:nvSpPr>
          <p:cNvPr id="10" name="Shape 7"/>
          <p:cNvSpPr/>
          <p:nvPr/>
        </p:nvSpPr>
        <p:spPr>
          <a:xfrm>
            <a:off x="594360" y="6428232"/>
            <a:ext cx="10835640" cy="0"/>
          </a:xfrm>
          <a:prstGeom prst="line">
            <a:avLst/>
          </a:prstGeom>
          <a:noFill/>
          <a:ln w="8890">
            <a:solidFill>
              <a:srgbClr val="CBD3DF"/>
            </a:solidFill>
            <a:prstDash val="solid"/>
          </a:ln>
        </p:spPr>
      </p:sp>
      <p:pic>
        <p:nvPicPr>
          <p:cNvPr id="11" name="Image 1" descr="/mnt/data/tokenomics_assets/logo_footer.png">    </p:cNvPr>
          <p:cNvPicPr>
            <a:picLocks noChangeAspect="1"/>
          </p:cNvPicPr>
          <p:nvPr/>
        </p:nvPicPr>
        <p:blipFill>
          <a:blip r:embed="rId2"/>
          <a:stretch>
            <a:fillRect/>
          </a:stretch>
        </p:blipFill>
        <p:spPr>
          <a:xfrm>
            <a:off x="865280" y="6510528"/>
            <a:ext cx="820615" cy="228600"/>
          </a:xfrm>
          <a:prstGeom prst="rect">
            <a:avLst/>
          </a:prstGeom>
        </p:spPr>
      </p:pic>
      <p:sp>
        <p:nvSpPr>
          <p:cNvPr id="12" name="Text 8"/>
          <p:cNvSpPr/>
          <p:nvPr/>
        </p:nvSpPr>
        <p:spPr>
          <a:xfrm>
            <a:off x="2057400" y="6510528"/>
            <a:ext cx="3931920" cy="182880"/>
          </a:xfrm>
          <a:prstGeom prst="rect">
            <a:avLst/>
          </a:prstGeom>
          <a:noFill/>
          <a:ln/>
        </p:spPr>
        <p:txBody>
          <a:bodyPr wrap="square" lIns="0" tIns="0" rIns="0" bIns="0" rtlCol="0" anchor="ctr"/>
          <a:lstStyle/>
          <a:p>
            <a:pPr indent="0" marL="0">
              <a:buNone/>
            </a:pPr>
            <a:r>
              <a:rPr lang="en-US" sz="750" dirty="0">
                <a:solidFill>
                  <a:srgbClr val="6B7280"/>
                </a:solidFill>
                <a:latin typeface="Arial" pitchFamily="34" charset="0"/>
                <a:ea typeface="Arial" pitchFamily="34" charset="-122"/>
                <a:cs typeface="Arial" pitchFamily="34" charset="-120"/>
              </a:rPr>
              <a:t>Prompt Ecology, Reverse Engineering —Embodied Agencies</a:t>
            </a:r>
            <a:endParaRPr lang="en-US" sz="750" dirty="0"/>
          </a:p>
        </p:txBody>
      </p:sp>
      <p:sp>
        <p:nvSpPr>
          <p:cNvPr id="13" name="Text 9"/>
          <p:cNvSpPr/>
          <p:nvPr/>
        </p:nvSpPr>
        <p:spPr>
          <a:xfrm>
            <a:off x="11064240" y="6473952"/>
            <a:ext cx="548640" cy="228600"/>
          </a:xfrm>
          <a:prstGeom prst="rect">
            <a:avLst/>
          </a:prstGeom>
          <a:noFill/>
          <a:ln/>
        </p:spPr>
        <p:txBody>
          <a:bodyPr wrap="square" lIns="0" tIns="0" rIns="0" bIns="0" rtlCol="0" anchor="ctr"/>
          <a:lstStyle/>
          <a:p>
            <a:pPr algn="r" indent="0" marL="0">
              <a:buNone/>
            </a:pPr>
            <a:r>
              <a:rPr lang="en-US" sz="850" b="1" dirty="0">
                <a:solidFill>
                  <a:srgbClr val="1957D2"/>
                </a:solidFill>
                <a:latin typeface="Arial" pitchFamily="34" charset="0"/>
                <a:ea typeface="Arial" pitchFamily="34" charset="-122"/>
                <a:cs typeface="Arial" pitchFamily="34" charset="-120"/>
              </a:rPr>
              <a:t>07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10652760" y="301752"/>
            <a:ext cx="960120" cy="960120"/>
          </a:xfrm>
          <a:prstGeom prst="rect">
            <a:avLst/>
          </a:prstGeom>
          <a:solidFill>
            <a:srgbClr val="1957D2"/>
          </a:solidFill>
          <a:ln w="12700">
            <a:solidFill>
              <a:srgbClr val="1957D2"/>
            </a:solidFill>
            <a:prstDash val="solid"/>
          </a:ln>
        </p:spPr>
      </p:sp>
      <p:sp>
        <p:nvSpPr>
          <p:cNvPr id="3" name="Text 1"/>
          <p:cNvSpPr/>
          <p:nvPr/>
        </p:nvSpPr>
        <p:spPr>
          <a:xfrm>
            <a:off x="621792" y="548640"/>
            <a:ext cx="3840480" cy="228600"/>
          </a:xfrm>
          <a:prstGeom prst="rect">
            <a:avLst/>
          </a:prstGeom>
          <a:noFill/>
          <a:ln/>
        </p:spPr>
        <p:txBody>
          <a:bodyPr wrap="square" lIns="0" tIns="0" rIns="0" bIns="0" rtlCol="0" anchor="ctr"/>
          <a:lstStyle/>
          <a:p>
            <a:pPr indent="0" marL="0">
              <a:buNone/>
            </a:pPr>
            <a:r>
              <a:rPr lang="en-US" sz="950" b="1" dirty="0">
                <a:solidFill>
                  <a:srgbClr val="1957D2"/>
                </a:solidFill>
                <a:latin typeface="Arial" pitchFamily="34" charset="0"/>
                <a:ea typeface="Arial" pitchFamily="34" charset="-122"/>
                <a:cs typeface="Arial" pitchFamily="34" charset="-120"/>
              </a:rPr>
              <a:t>BENCHMARK TABLE</a:t>
            </a:r>
            <a:endParaRPr lang="en-US" sz="950" dirty="0"/>
          </a:p>
        </p:txBody>
      </p:sp>
      <p:sp>
        <p:nvSpPr>
          <p:cNvPr id="4" name="Shape 2"/>
          <p:cNvSpPr/>
          <p:nvPr/>
        </p:nvSpPr>
        <p:spPr>
          <a:xfrm>
            <a:off x="621792" y="896112"/>
            <a:ext cx="731520" cy="0"/>
          </a:xfrm>
          <a:prstGeom prst="line">
            <a:avLst/>
          </a:prstGeom>
          <a:noFill/>
          <a:ln w="25400">
            <a:solidFill>
              <a:srgbClr val="1957D2"/>
            </a:solidFill>
            <a:prstDash val="solid"/>
          </a:ln>
        </p:spPr>
      </p:sp>
      <p:sp>
        <p:nvSpPr>
          <p:cNvPr id="5" name="Text 3"/>
          <p:cNvSpPr/>
          <p:nvPr/>
        </p:nvSpPr>
        <p:spPr>
          <a:xfrm>
            <a:off x="621792" y="1005840"/>
            <a:ext cx="7040880" cy="384048"/>
          </a:xfrm>
          <a:prstGeom prst="rect">
            <a:avLst/>
          </a:prstGeom>
          <a:noFill/>
          <a:ln/>
        </p:spPr>
        <p:txBody>
          <a:bodyPr wrap="square" lIns="0" tIns="0" rIns="0" bIns="0" rtlCol="0" anchor="ctr">
            <a:normAutofit/>
          </a:bodyPr>
          <a:lstStyle/>
          <a:p>
            <a:pPr indent="0" marL="0">
              <a:buNone/>
            </a:pPr>
            <a:r>
              <a:rPr lang="en-US" sz="3100" b="1" dirty="0">
                <a:solidFill>
                  <a:srgbClr val="111318"/>
                </a:solidFill>
                <a:latin typeface="Arial" pitchFamily="34" charset="0"/>
                <a:ea typeface="Arial" pitchFamily="34" charset="-122"/>
                <a:cs typeface="Arial" pitchFamily="34" charset="-120"/>
              </a:rPr>
              <a:t>Complete 12-format result set</a:t>
            </a:r>
            <a:endParaRPr lang="en-US" sz="3100" dirty="0"/>
          </a:p>
        </p:txBody>
      </p:sp>
      <p:pic>
        <p:nvPicPr>
          <p:cNvPr id="6" name="Image 0" descr="/mnt/data/tokenomics_assets/benchmark_table.png">    </p:cNvPr>
          <p:cNvPicPr>
            <a:picLocks noChangeAspect="1"/>
          </p:cNvPicPr>
          <p:nvPr/>
        </p:nvPicPr>
        <p:blipFill>
          <a:blip r:embed="rId1"/>
          <a:stretch>
            <a:fillRect/>
          </a:stretch>
        </p:blipFill>
        <p:spPr>
          <a:xfrm>
            <a:off x="1007963" y="1417320"/>
            <a:ext cx="3516195" cy="4434840"/>
          </a:xfrm>
          <a:prstGeom prst="rect">
            <a:avLst/>
          </a:prstGeom>
        </p:spPr>
      </p:pic>
      <p:sp>
        <p:nvSpPr>
          <p:cNvPr id="7" name="Text 4"/>
          <p:cNvSpPr/>
          <p:nvPr/>
        </p:nvSpPr>
        <p:spPr>
          <a:xfrm>
            <a:off x="5349240" y="1572768"/>
            <a:ext cx="3108960" cy="310896"/>
          </a:xfrm>
          <a:prstGeom prst="rect">
            <a:avLst/>
          </a:prstGeom>
          <a:noFill/>
          <a:ln/>
        </p:spPr>
        <p:txBody>
          <a:bodyPr wrap="square" lIns="0" tIns="0" rIns="0" bIns="0" rtlCol="0" anchor="ctr"/>
          <a:lstStyle/>
          <a:p>
            <a:pPr indent="0" marL="0">
              <a:buNone/>
            </a:pPr>
            <a:r>
              <a:rPr lang="en-US" sz="1800" b="1" dirty="0">
                <a:solidFill>
                  <a:srgbClr val="111318"/>
                </a:solidFill>
                <a:latin typeface="Arial" pitchFamily="34" charset="0"/>
                <a:ea typeface="Arial" pitchFamily="34" charset="-122"/>
                <a:cs typeface="Arial" pitchFamily="34" charset="-120"/>
              </a:rPr>
              <a:t>Interpretation</a:t>
            </a:r>
            <a:endParaRPr lang="en-US" sz="1800" dirty="0"/>
          </a:p>
        </p:txBody>
      </p:sp>
      <p:sp>
        <p:nvSpPr>
          <p:cNvPr id="8" name="Text 5"/>
          <p:cNvSpPr/>
          <p:nvPr/>
        </p:nvSpPr>
        <p:spPr>
          <a:xfrm>
            <a:off x="5349240" y="1993392"/>
            <a:ext cx="5440680" cy="713232"/>
          </a:xfrm>
          <a:prstGeom prst="rect">
            <a:avLst/>
          </a:prstGeom>
          <a:noFill/>
          <a:ln/>
        </p:spPr>
        <p:txBody>
          <a:bodyPr wrap="square" lIns="635" tIns="635" rIns="635" bIns="635" rtlCol="0" anchor="t">
            <a:normAutofit/>
          </a:bodyPr>
          <a:lstStyle/>
          <a:p>
            <a:pPr indent="0" marL="0">
              <a:buNone/>
            </a:pPr>
            <a:r>
              <a:rPr lang="en-US" sz="1600" dirty="0">
                <a:solidFill>
                  <a:srgbClr val="4E5868"/>
                </a:solidFill>
                <a:latin typeface="Arial" pitchFamily="34" charset="0"/>
                <a:ea typeface="Arial" pitchFamily="34" charset="-122"/>
                <a:cs typeface="Arial" pitchFamily="34" charset="-120"/>
              </a:rPr>
              <a:t>The 12-format table completes the corrected publication scope: TOON is included alongside every format from the ImprovingAgents run.</a:t>
            </a:r>
            <a:endParaRPr lang="en-US" sz="1600" dirty="0"/>
          </a:p>
        </p:txBody>
      </p:sp>
      <p:sp>
        <p:nvSpPr>
          <p:cNvPr id="9" name="Text 6"/>
          <p:cNvSpPr/>
          <p:nvPr/>
        </p:nvSpPr>
        <p:spPr>
          <a:xfrm>
            <a:off x="5349240" y="2880360"/>
            <a:ext cx="5440680" cy="2057400"/>
          </a:xfrm>
          <a:prstGeom prst="rect">
            <a:avLst/>
          </a:prstGeom>
          <a:noFill/>
          <a:ln/>
        </p:spPr>
        <p:txBody>
          <a:bodyPr wrap="square" lIns="635" tIns="635" rIns="635" bIns="635" rtlCol="0" anchor="ctr">
            <a:normAutofit/>
          </a:bodyPr>
          <a:lstStyle/>
          <a:p>
            <a:r>
              <a:rPr lang="en-US" sz="1450" dirty="0">
                <a:solidFill>
                  <a:srgbClr val="4E5868"/>
                </a:solidFill>
                <a:latin typeface="Arial" pitchFamily="34" charset="0"/>
                <a:ea typeface="Arial" pitchFamily="34" charset="-122"/>
                <a:cs typeface="Arial" pitchFamily="34" charset="-120"/>
              </a:rPr>
              <a:t>Accuracy winner: Markdown-KV at 60.7%.
</a:t>
            </a:r>
            <a:endParaRPr lang="en-US" sz="1450" dirty="0"/>
          </a:p>
          <a:p>
            <a:r>
              <a:rPr lang="en-US" sz="1450" dirty="0">
                <a:solidFill>
                  <a:srgbClr val="4E5868"/>
                </a:solidFill>
                <a:latin typeface="Arial" pitchFamily="34" charset="0"/>
                <a:ea typeface="Arial" pitchFamily="34" charset="-122"/>
                <a:cs typeface="Arial" pitchFamily="34" charset="-120"/>
              </a:rPr>
              <a:t>Cheapest format: CSV at 19,524 tokens.
</a:t>
            </a:r>
            <a:endParaRPr lang="en-US" sz="1450" dirty="0"/>
          </a:p>
          <a:p>
            <a:r>
              <a:rPr lang="en-US" sz="1450" dirty="0">
                <a:solidFill>
                  <a:srgbClr val="4E5868"/>
                </a:solidFill>
                <a:latin typeface="Arial" pitchFamily="34" charset="0"/>
                <a:ea typeface="Arial" pitchFamily="34" charset="-122"/>
                <a:cs typeface="Arial" pitchFamily="34" charset="-120"/>
              </a:rPr>
              <a:t>Compact compromise: Markdown table at 51.9% and 25,140 tokens.
</a:t>
            </a:r>
            <a:endParaRPr lang="en-US" sz="1450" dirty="0"/>
          </a:p>
          <a:p>
            <a:r>
              <a:rPr lang="en-US" sz="1450" dirty="0">
                <a:solidFill>
                  <a:srgbClr val="4E5868"/>
                </a:solidFill>
                <a:latin typeface="Arial" pitchFamily="34" charset="0"/>
                <a:ea typeface="Arial" pitchFamily="34" charset="-122"/>
                <a:cs typeface="Arial" pitchFamily="34" charset="-120"/>
              </a:rPr>
              <a:t>TOON reached 47.5% at 21,518 tokens, with no statistically significant difference from CSV in that benchmark.</a:t>
            </a:r>
            <a:endParaRPr lang="en-US" sz="1450" dirty="0"/>
          </a:p>
        </p:txBody>
      </p:sp>
      <p:sp>
        <p:nvSpPr>
          <p:cNvPr id="10" name="Shape 7"/>
          <p:cNvSpPr/>
          <p:nvPr/>
        </p:nvSpPr>
        <p:spPr>
          <a:xfrm>
            <a:off x="594360" y="6428232"/>
            <a:ext cx="10835640" cy="0"/>
          </a:xfrm>
          <a:prstGeom prst="line">
            <a:avLst/>
          </a:prstGeom>
          <a:noFill/>
          <a:ln w="8890">
            <a:solidFill>
              <a:srgbClr val="CBD3DF"/>
            </a:solidFill>
            <a:prstDash val="solid"/>
          </a:ln>
        </p:spPr>
      </p:sp>
      <p:pic>
        <p:nvPicPr>
          <p:cNvPr id="11" name="Image 1" descr="/mnt/data/tokenomics_assets/logo_footer.png">    </p:cNvPr>
          <p:cNvPicPr>
            <a:picLocks noChangeAspect="1"/>
          </p:cNvPicPr>
          <p:nvPr/>
        </p:nvPicPr>
        <p:blipFill>
          <a:blip r:embed="rId2"/>
          <a:stretch>
            <a:fillRect/>
          </a:stretch>
        </p:blipFill>
        <p:spPr>
          <a:xfrm>
            <a:off x="865280" y="6510528"/>
            <a:ext cx="820615" cy="228600"/>
          </a:xfrm>
          <a:prstGeom prst="rect">
            <a:avLst/>
          </a:prstGeom>
        </p:spPr>
      </p:pic>
      <p:sp>
        <p:nvSpPr>
          <p:cNvPr id="12" name="Text 8"/>
          <p:cNvSpPr/>
          <p:nvPr/>
        </p:nvSpPr>
        <p:spPr>
          <a:xfrm>
            <a:off x="2057400" y="6510528"/>
            <a:ext cx="3931920" cy="182880"/>
          </a:xfrm>
          <a:prstGeom prst="rect">
            <a:avLst/>
          </a:prstGeom>
          <a:noFill/>
          <a:ln/>
        </p:spPr>
        <p:txBody>
          <a:bodyPr wrap="square" lIns="0" tIns="0" rIns="0" bIns="0" rtlCol="0" anchor="ctr"/>
          <a:lstStyle/>
          <a:p>
            <a:pPr indent="0" marL="0">
              <a:buNone/>
            </a:pPr>
            <a:r>
              <a:rPr lang="en-US" sz="750" dirty="0">
                <a:solidFill>
                  <a:srgbClr val="6B7280"/>
                </a:solidFill>
                <a:latin typeface="Arial" pitchFamily="34" charset="0"/>
                <a:ea typeface="Arial" pitchFamily="34" charset="-122"/>
                <a:cs typeface="Arial" pitchFamily="34" charset="-120"/>
              </a:rPr>
              <a:t>Prompt Ecology, Reverse Engineering —Embodied Agencies</a:t>
            </a:r>
            <a:endParaRPr lang="en-US" sz="750" dirty="0"/>
          </a:p>
        </p:txBody>
      </p:sp>
      <p:sp>
        <p:nvSpPr>
          <p:cNvPr id="13" name="Text 9"/>
          <p:cNvSpPr/>
          <p:nvPr/>
        </p:nvSpPr>
        <p:spPr>
          <a:xfrm>
            <a:off x="11064240" y="6473952"/>
            <a:ext cx="548640" cy="228600"/>
          </a:xfrm>
          <a:prstGeom prst="rect">
            <a:avLst/>
          </a:prstGeom>
          <a:noFill/>
          <a:ln/>
        </p:spPr>
        <p:txBody>
          <a:bodyPr wrap="square" lIns="0" tIns="0" rIns="0" bIns="0" rtlCol="0" anchor="ctr"/>
          <a:lstStyle/>
          <a:p>
            <a:pPr algn="r" indent="0" marL="0">
              <a:buNone/>
            </a:pPr>
            <a:r>
              <a:rPr lang="en-US" sz="850" b="1" dirty="0">
                <a:solidFill>
                  <a:srgbClr val="1957D2"/>
                </a:solidFill>
                <a:latin typeface="Arial" pitchFamily="34" charset="0"/>
                <a:ea typeface="Arial" pitchFamily="34" charset="-122"/>
                <a:cs typeface="Arial" pitchFamily="34" charset="-120"/>
              </a:rPr>
              <a:t>08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10652760" y="301752"/>
            <a:ext cx="960120" cy="960120"/>
          </a:xfrm>
          <a:prstGeom prst="rect">
            <a:avLst/>
          </a:prstGeom>
          <a:solidFill>
            <a:srgbClr val="1957D2"/>
          </a:solidFill>
          <a:ln w="12700">
            <a:solidFill>
              <a:srgbClr val="1957D2"/>
            </a:solidFill>
            <a:prstDash val="solid"/>
          </a:ln>
        </p:spPr>
      </p:sp>
      <p:sp>
        <p:nvSpPr>
          <p:cNvPr id="3" name="Text 1"/>
          <p:cNvSpPr/>
          <p:nvPr/>
        </p:nvSpPr>
        <p:spPr>
          <a:xfrm>
            <a:off x="621792" y="548640"/>
            <a:ext cx="3840480" cy="228600"/>
          </a:xfrm>
          <a:prstGeom prst="rect">
            <a:avLst/>
          </a:prstGeom>
          <a:noFill/>
          <a:ln/>
        </p:spPr>
        <p:txBody>
          <a:bodyPr wrap="square" lIns="0" tIns="0" rIns="0" bIns="0" rtlCol="0" anchor="ctr"/>
          <a:lstStyle/>
          <a:p>
            <a:pPr indent="0" marL="0">
              <a:buNone/>
            </a:pPr>
            <a:r>
              <a:rPr lang="en-US" sz="950" b="1" dirty="0">
                <a:solidFill>
                  <a:srgbClr val="1957D2"/>
                </a:solidFill>
                <a:latin typeface="Arial" pitchFamily="34" charset="0"/>
                <a:ea typeface="Arial" pitchFamily="34" charset="-122"/>
                <a:cs typeface="Arial" pitchFamily="34" charset="-120"/>
              </a:rPr>
              <a:t>CONCRETE EXAMPLE</a:t>
            </a:r>
            <a:endParaRPr lang="en-US" sz="950" dirty="0"/>
          </a:p>
        </p:txBody>
      </p:sp>
      <p:sp>
        <p:nvSpPr>
          <p:cNvPr id="4" name="Shape 2"/>
          <p:cNvSpPr/>
          <p:nvPr/>
        </p:nvSpPr>
        <p:spPr>
          <a:xfrm>
            <a:off x="621792" y="896112"/>
            <a:ext cx="731520" cy="0"/>
          </a:xfrm>
          <a:prstGeom prst="line">
            <a:avLst/>
          </a:prstGeom>
          <a:noFill/>
          <a:ln w="25400">
            <a:solidFill>
              <a:srgbClr val="1957D2"/>
            </a:solidFill>
            <a:prstDash val="solid"/>
          </a:ln>
        </p:spPr>
      </p:sp>
      <p:sp>
        <p:nvSpPr>
          <p:cNvPr id="5" name="Text 3"/>
          <p:cNvSpPr/>
          <p:nvPr/>
        </p:nvSpPr>
        <p:spPr>
          <a:xfrm>
            <a:off x="621792" y="1005840"/>
            <a:ext cx="7040880" cy="384048"/>
          </a:xfrm>
          <a:prstGeom prst="rect">
            <a:avLst/>
          </a:prstGeom>
          <a:noFill/>
          <a:ln/>
        </p:spPr>
        <p:txBody>
          <a:bodyPr wrap="square" lIns="0" tIns="0" rIns="0" bIns="0" rtlCol="0" anchor="ctr">
            <a:normAutofit/>
          </a:bodyPr>
          <a:lstStyle/>
          <a:p>
            <a:pPr indent="0" marL="0">
              <a:buNone/>
            </a:pPr>
            <a:r>
              <a:rPr lang="en-US" sz="3100" b="1" dirty="0">
                <a:solidFill>
                  <a:srgbClr val="111318"/>
                </a:solidFill>
                <a:latin typeface="Arial" pitchFamily="34" charset="0"/>
                <a:ea typeface="Arial" pitchFamily="34" charset="-122"/>
                <a:cs typeface="Arial" pitchFamily="34" charset="-120"/>
              </a:rPr>
              <a:t>Same record, every format</a:t>
            </a:r>
            <a:endParaRPr lang="en-US" sz="3100" dirty="0"/>
          </a:p>
        </p:txBody>
      </p:sp>
      <p:pic>
        <p:nvPicPr>
          <p:cNvPr id="6" name="Image 0" descr="/mnt/data/tokenomics_assets/same_record_grid.png">    </p:cNvPr>
          <p:cNvPicPr>
            <a:picLocks noChangeAspect="1"/>
          </p:cNvPicPr>
          <p:nvPr/>
        </p:nvPicPr>
        <p:blipFill>
          <a:blip r:embed="rId1"/>
          <a:stretch>
            <a:fillRect/>
          </a:stretch>
        </p:blipFill>
        <p:spPr>
          <a:xfrm>
            <a:off x="1127670" y="1417320"/>
            <a:ext cx="5873675" cy="4160520"/>
          </a:xfrm>
          <a:prstGeom prst="rect">
            <a:avLst/>
          </a:prstGeom>
        </p:spPr>
      </p:pic>
      <p:sp>
        <p:nvSpPr>
          <p:cNvPr id="7" name="Text 4"/>
          <p:cNvSpPr/>
          <p:nvPr/>
        </p:nvSpPr>
        <p:spPr>
          <a:xfrm>
            <a:off x="7818120" y="1645920"/>
            <a:ext cx="3200400" cy="320040"/>
          </a:xfrm>
          <a:prstGeom prst="rect">
            <a:avLst/>
          </a:prstGeom>
          <a:noFill/>
          <a:ln/>
        </p:spPr>
        <p:txBody>
          <a:bodyPr wrap="square" lIns="0" tIns="0" rIns="0" bIns="0" rtlCol="0" anchor="ctr"/>
          <a:lstStyle/>
          <a:p>
            <a:pPr indent="0" marL="0">
              <a:buNone/>
            </a:pPr>
            <a:r>
              <a:rPr lang="en-US" sz="1800" b="1" dirty="0">
                <a:solidFill>
                  <a:srgbClr val="111318"/>
                </a:solidFill>
                <a:latin typeface="Arial" pitchFamily="34" charset="0"/>
                <a:ea typeface="Arial" pitchFamily="34" charset="-122"/>
                <a:cs typeface="Arial" pitchFamily="34" charset="-120"/>
              </a:rPr>
              <a:t>Why the count changes</a:t>
            </a:r>
            <a:endParaRPr lang="en-US" sz="1800" dirty="0"/>
          </a:p>
        </p:txBody>
      </p:sp>
      <p:sp>
        <p:nvSpPr>
          <p:cNvPr id="8" name="Text 5"/>
          <p:cNvSpPr/>
          <p:nvPr/>
        </p:nvSpPr>
        <p:spPr>
          <a:xfrm>
            <a:off x="7818120" y="2121408"/>
            <a:ext cx="3520440" cy="2103120"/>
          </a:xfrm>
          <a:prstGeom prst="rect">
            <a:avLst/>
          </a:prstGeom>
          <a:noFill/>
          <a:ln/>
        </p:spPr>
        <p:txBody>
          <a:bodyPr wrap="square" lIns="635" tIns="635" rIns="635" bIns="635" rtlCol="0" anchor="ctr">
            <a:normAutofit/>
          </a:bodyPr>
          <a:lstStyle/>
          <a:p>
            <a:r>
              <a:rPr lang="en-US" sz="1480" dirty="0">
                <a:solidFill>
                  <a:srgbClr val="4E5868"/>
                </a:solidFill>
                <a:latin typeface="Arial" pitchFamily="34" charset="0"/>
                <a:ea typeface="Arial" pitchFamily="34" charset="-122"/>
                <a:cs typeface="Arial" pitchFamily="34" charset="-120"/>
              </a:rPr>
              <a:t>CSV pays for the header once, then compact row values.
</a:t>
            </a:r>
            <a:endParaRPr lang="en-US" sz="1480" dirty="0"/>
          </a:p>
          <a:p>
            <a:r>
              <a:rPr lang="en-US" sz="1480" dirty="0">
                <a:solidFill>
                  <a:srgbClr val="4E5868"/>
                </a:solidFill>
                <a:latin typeface="Arial" pitchFamily="34" charset="0"/>
                <a:ea typeface="Arial" pitchFamily="34" charset="-122"/>
                <a:cs typeface="Arial" pitchFamily="34" charset="-120"/>
              </a:rPr>
              <a:t>Compact JSON repeats keys on every object.
</a:t>
            </a:r>
            <a:endParaRPr lang="en-US" sz="1480" dirty="0"/>
          </a:p>
          <a:p>
            <a:r>
              <a:rPr lang="en-US" sz="1480" dirty="0">
                <a:solidFill>
                  <a:srgbClr val="4E5868"/>
                </a:solidFill>
                <a:latin typeface="Arial" pitchFamily="34" charset="0"/>
                <a:ea typeface="Arial" pitchFamily="34" charset="-122"/>
                <a:cs typeface="Arial" pitchFamily="34" charset="-120"/>
              </a:rPr>
              <a:t>Pretty JSON adds removable whitespace.
</a:t>
            </a:r>
            <a:endParaRPr lang="en-US" sz="1480" dirty="0"/>
          </a:p>
          <a:p>
            <a:r>
              <a:rPr lang="en-US" sz="1480" dirty="0">
                <a:solidFill>
                  <a:srgbClr val="4E5868"/>
                </a:solidFill>
                <a:latin typeface="Arial" pitchFamily="34" charset="0"/>
                <a:ea typeface="Arial" pitchFamily="34" charset="-122"/>
                <a:cs typeface="Arial" pitchFamily="34" charset="-120"/>
              </a:rPr>
              <a:t>XML repeats semantic labels twice: opening and closing tags.</a:t>
            </a:r>
            <a:endParaRPr lang="en-US" sz="1480" dirty="0"/>
          </a:p>
        </p:txBody>
      </p:sp>
      <p:sp>
        <p:nvSpPr>
          <p:cNvPr id="9" name="Text 6"/>
          <p:cNvSpPr/>
          <p:nvPr/>
        </p:nvSpPr>
        <p:spPr>
          <a:xfrm>
            <a:off x="7818120" y="4617720"/>
            <a:ext cx="3383280" cy="411480"/>
          </a:xfrm>
          <a:prstGeom prst="rect">
            <a:avLst/>
          </a:prstGeom>
          <a:noFill/>
          <a:ln/>
        </p:spPr>
        <p:txBody>
          <a:bodyPr wrap="square" lIns="635" tIns="635" rIns="635" bIns="635" rtlCol="0" anchor="t">
            <a:normAutofit/>
          </a:bodyPr>
          <a:lstStyle/>
          <a:p>
            <a:pPr indent="0" marL="0">
              <a:buNone/>
            </a:pPr>
            <a:r>
              <a:rPr lang="en-US" sz="1550" b="1" dirty="0">
                <a:solidFill>
                  <a:srgbClr val="111318"/>
                </a:solidFill>
                <a:latin typeface="Arial" pitchFamily="34" charset="0"/>
                <a:ea typeface="Arial" pitchFamily="34" charset="-122"/>
                <a:cs typeface="Arial" pitchFamily="34" charset="-120"/>
              </a:rPr>
              <a:t>This is the intuition behind the aggregate chart.</a:t>
            </a:r>
            <a:endParaRPr lang="en-US" sz="1550" dirty="0"/>
          </a:p>
        </p:txBody>
      </p:sp>
      <p:sp>
        <p:nvSpPr>
          <p:cNvPr id="10" name="Shape 7"/>
          <p:cNvSpPr/>
          <p:nvPr/>
        </p:nvSpPr>
        <p:spPr>
          <a:xfrm>
            <a:off x="594360" y="6428232"/>
            <a:ext cx="10835640" cy="0"/>
          </a:xfrm>
          <a:prstGeom prst="line">
            <a:avLst/>
          </a:prstGeom>
          <a:noFill/>
          <a:ln w="8890">
            <a:solidFill>
              <a:srgbClr val="CBD3DF"/>
            </a:solidFill>
            <a:prstDash val="solid"/>
          </a:ln>
        </p:spPr>
      </p:sp>
      <p:pic>
        <p:nvPicPr>
          <p:cNvPr id="11" name="Image 1" descr="/mnt/data/tokenomics_assets/logo_footer.png">    </p:cNvPr>
          <p:cNvPicPr>
            <a:picLocks noChangeAspect="1"/>
          </p:cNvPicPr>
          <p:nvPr/>
        </p:nvPicPr>
        <p:blipFill>
          <a:blip r:embed="rId2"/>
          <a:stretch>
            <a:fillRect/>
          </a:stretch>
        </p:blipFill>
        <p:spPr>
          <a:xfrm>
            <a:off x="865280" y="6510528"/>
            <a:ext cx="820615" cy="228600"/>
          </a:xfrm>
          <a:prstGeom prst="rect">
            <a:avLst/>
          </a:prstGeom>
        </p:spPr>
      </p:pic>
      <p:sp>
        <p:nvSpPr>
          <p:cNvPr id="12" name="Text 8"/>
          <p:cNvSpPr/>
          <p:nvPr/>
        </p:nvSpPr>
        <p:spPr>
          <a:xfrm>
            <a:off x="2057400" y="6510528"/>
            <a:ext cx="3931920" cy="182880"/>
          </a:xfrm>
          <a:prstGeom prst="rect">
            <a:avLst/>
          </a:prstGeom>
          <a:noFill/>
          <a:ln/>
        </p:spPr>
        <p:txBody>
          <a:bodyPr wrap="square" lIns="0" tIns="0" rIns="0" bIns="0" rtlCol="0" anchor="ctr"/>
          <a:lstStyle/>
          <a:p>
            <a:pPr indent="0" marL="0">
              <a:buNone/>
            </a:pPr>
            <a:r>
              <a:rPr lang="en-US" sz="750" dirty="0">
                <a:solidFill>
                  <a:srgbClr val="6B7280"/>
                </a:solidFill>
                <a:latin typeface="Arial" pitchFamily="34" charset="0"/>
                <a:ea typeface="Arial" pitchFamily="34" charset="-122"/>
                <a:cs typeface="Arial" pitchFamily="34" charset="-120"/>
              </a:rPr>
              <a:t>Prompt Ecology, Reverse Engineering —Embodied Agencies</a:t>
            </a:r>
            <a:endParaRPr lang="en-US" sz="750" dirty="0"/>
          </a:p>
        </p:txBody>
      </p:sp>
      <p:sp>
        <p:nvSpPr>
          <p:cNvPr id="13" name="Text 9"/>
          <p:cNvSpPr/>
          <p:nvPr/>
        </p:nvSpPr>
        <p:spPr>
          <a:xfrm>
            <a:off x="11064240" y="6473952"/>
            <a:ext cx="548640" cy="228600"/>
          </a:xfrm>
          <a:prstGeom prst="rect">
            <a:avLst/>
          </a:prstGeom>
          <a:noFill/>
          <a:ln/>
        </p:spPr>
        <p:txBody>
          <a:bodyPr wrap="square" lIns="0" tIns="0" rIns="0" bIns="0" rtlCol="0" anchor="ctr"/>
          <a:lstStyle/>
          <a:p>
            <a:pPr algn="r" indent="0" marL="0">
              <a:buNone/>
            </a:pPr>
            <a:r>
              <a:rPr lang="en-US" sz="850" b="1" dirty="0">
                <a:solidFill>
                  <a:srgbClr val="1957D2"/>
                </a:solidFill>
                <a:latin typeface="Arial" pitchFamily="34" charset="0"/>
                <a:ea typeface="Arial" pitchFamily="34" charset="-122"/>
                <a:cs typeface="Arial" pitchFamily="34" charset="-120"/>
              </a:rPr>
              <a:t>09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10652760" y="301752"/>
            <a:ext cx="960120" cy="960120"/>
          </a:xfrm>
          <a:prstGeom prst="rect">
            <a:avLst/>
          </a:prstGeom>
          <a:solidFill>
            <a:srgbClr val="1957D2"/>
          </a:solidFill>
          <a:ln w="12700">
            <a:solidFill>
              <a:srgbClr val="1957D2"/>
            </a:solidFill>
            <a:prstDash val="solid"/>
          </a:ln>
        </p:spPr>
      </p:sp>
      <p:sp>
        <p:nvSpPr>
          <p:cNvPr id="3" name="Text 1"/>
          <p:cNvSpPr/>
          <p:nvPr/>
        </p:nvSpPr>
        <p:spPr>
          <a:xfrm>
            <a:off x="621792" y="548640"/>
            <a:ext cx="3840480" cy="228600"/>
          </a:xfrm>
          <a:prstGeom prst="rect">
            <a:avLst/>
          </a:prstGeom>
          <a:noFill/>
          <a:ln/>
        </p:spPr>
        <p:txBody>
          <a:bodyPr wrap="square" lIns="0" tIns="0" rIns="0" bIns="0" rtlCol="0" anchor="ctr"/>
          <a:lstStyle/>
          <a:p>
            <a:pPr indent="0" marL="0">
              <a:buNone/>
            </a:pPr>
            <a:r>
              <a:rPr lang="en-US" sz="950" b="1" dirty="0">
                <a:solidFill>
                  <a:srgbClr val="1957D2"/>
                </a:solidFill>
                <a:latin typeface="Arial" pitchFamily="34" charset="0"/>
                <a:ea typeface="Arial" pitchFamily="34" charset="-122"/>
                <a:cs typeface="Arial" pitchFamily="34" charset="-120"/>
              </a:rPr>
              <a:t>PRICING LEVERAGE</a:t>
            </a:r>
            <a:endParaRPr lang="en-US" sz="950" dirty="0"/>
          </a:p>
        </p:txBody>
      </p:sp>
      <p:sp>
        <p:nvSpPr>
          <p:cNvPr id="4" name="Shape 2"/>
          <p:cNvSpPr/>
          <p:nvPr/>
        </p:nvSpPr>
        <p:spPr>
          <a:xfrm>
            <a:off x="621792" y="896112"/>
            <a:ext cx="731520" cy="0"/>
          </a:xfrm>
          <a:prstGeom prst="line">
            <a:avLst/>
          </a:prstGeom>
          <a:noFill/>
          <a:ln w="25400">
            <a:solidFill>
              <a:srgbClr val="1957D2"/>
            </a:solidFill>
            <a:prstDash val="solid"/>
          </a:ln>
        </p:spPr>
      </p:sp>
      <p:sp>
        <p:nvSpPr>
          <p:cNvPr id="5" name="Text 3"/>
          <p:cNvSpPr/>
          <p:nvPr/>
        </p:nvSpPr>
        <p:spPr>
          <a:xfrm>
            <a:off x="621792" y="1005840"/>
            <a:ext cx="7040880" cy="384048"/>
          </a:xfrm>
          <a:prstGeom prst="rect">
            <a:avLst/>
          </a:prstGeom>
          <a:noFill/>
          <a:ln/>
        </p:spPr>
        <p:txBody>
          <a:bodyPr wrap="square" lIns="0" tIns="0" rIns="0" bIns="0" rtlCol="0" anchor="ctr">
            <a:normAutofit/>
          </a:bodyPr>
          <a:lstStyle/>
          <a:p>
            <a:pPr indent="0" marL="0">
              <a:buNone/>
            </a:pPr>
            <a:r>
              <a:rPr lang="en-US" sz="3100" b="1" dirty="0">
                <a:solidFill>
                  <a:srgbClr val="111318"/>
                </a:solidFill>
                <a:latin typeface="Arial" pitchFamily="34" charset="0"/>
                <a:ea typeface="Arial" pitchFamily="34" charset="-122"/>
                <a:cs typeface="Arial" pitchFamily="34" charset="-120"/>
              </a:rPr>
              <a:t>Output tokens dominate savings math</a:t>
            </a:r>
            <a:endParaRPr lang="en-US" sz="3100" dirty="0"/>
          </a:p>
        </p:txBody>
      </p:sp>
      <p:pic>
        <p:nvPicPr>
          <p:cNvPr id="6" name="Image 0" descr="/mnt/data/tokenomics_assets/fig3_pricing_multiplier.png">    </p:cNvPr>
          <p:cNvPicPr>
            <a:picLocks noChangeAspect="1"/>
          </p:cNvPicPr>
          <p:nvPr/>
        </p:nvPicPr>
        <p:blipFill>
          <a:blip r:embed="rId1"/>
          <a:stretch>
            <a:fillRect/>
          </a:stretch>
        </p:blipFill>
        <p:spPr>
          <a:xfrm>
            <a:off x="658368" y="1589412"/>
            <a:ext cx="7086600" cy="2627616"/>
          </a:xfrm>
          <a:prstGeom prst="rect">
            <a:avLst/>
          </a:prstGeom>
        </p:spPr>
      </p:pic>
      <p:sp>
        <p:nvSpPr>
          <p:cNvPr id="7" name="Text 4"/>
          <p:cNvSpPr/>
          <p:nvPr/>
        </p:nvSpPr>
        <p:spPr>
          <a:xfrm>
            <a:off x="8092440" y="1645920"/>
            <a:ext cx="3108960" cy="320040"/>
          </a:xfrm>
          <a:prstGeom prst="rect">
            <a:avLst/>
          </a:prstGeom>
          <a:noFill/>
          <a:ln/>
        </p:spPr>
        <p:txBody>
          <a:bodyPr wrap="square" lIns="0" tIns="0" rIns="0" bIns="0" rtlCol="0" anchor="ctr"/>
          <a:lstStyle/>
          <a:p>
            <a:pPr indent="0" marL="0">
              <a:buNone/>
            </a:pPr>
            <a:r>
              <a:rPr lang="en-US" sz="1800" b="1" dirty="0">
                <a:solidFill>
                  <a:srgbClr val="111318"/>
                </a:solidFill>
                <a:latin typeface="Arial" pitchFamily="34" charset="0"/>
                <a:ea typeface="Arial" pitchFamily="34" charset="-122"/>
                <a:cs typeface="Arial" pitchFamily="34" charset="-120"/>
              </a:rPr>
              <a:t>Production reading</a:t>
            </a:r>
            <a:endParaRPr lang="en-US" sz="1800" dirty="0"/>
          </a:p>
        </p:txBody>
      </p:sp>
      <p:sp>
        <p:nvSpPr>
          <p:cNvPr id="8" name="Text 5"/>
          <p:cNvSpPr/>
          <p:nvPr/>
        </p:nvSpPr>
        <p:spPr>
          <a:xfrm>
            <a:off x="8092440" y="2103120"/>
            <a:ext cx="3429000" cy="1828800"/>
          </a:xfrm>
          <a:prstGeom prst="rect">
            <a:avLst/>
          </a:prstGeom>
          <a:noFill/>
          <a:ln/>
        </p:spPr>
        <p:txBody>
          <a:bodyPr wrap="square" lIns="635" tIns="635" rIns="635" bIns="635" rtlCol="0" anchor="ctr">
            <a:normAutofit/>
          </a:bodyPr>
          <a:lstStyle/>
          <a:p>
            <a:r>
              <a:rPr lang="en-US" sz="1450" dirty="0">
                <a:solidFill>
                  <a:srgbClr val="4E5868"/>
                </a:solidFill>
                <a:latin typeface="Arial" pitchFamily="34" charset="0"/>
                <a:ea typeface="Arial" pitchFamily="34" charset="-122"/>
                <a:cs typeface="Arial" pitchFamily="34" charset="-120"/>
              </a:rPr>
              <a:t>OpenAI GPT-5.5 and Gemini 3.1 Pro price output at 6× input.
</a:t>
            </a:r>
            <a:endParaRPr lang="en-US" sz="1450" dirty="0"/>
          </a:p>
          <a:p>
            <a:r>
              <a:rPr lang="en-US" sz="1450" dirty="0">
                <a:solidFill>
                  <a:srgbClr val="4E5868"/>
                </a:solidFill>
                <a:latin typeface="Arial" pitchFamily="34" charset="0"/>
                <a:ea typeface="Arial" pitchFamily="34" charset="-122"/>
                <a:cs typeface="Arial" pitchFamily="34" charset="-120"/>
              </a:rPr>
              <a:t>Claude Opus 4.8 is 5× input.
</a:t>
            </a:r>
            <a:endParaRPr lang="en-US" sz="1450" dirty="0"/>
          </a:p>
          <a:p>
            <a:r>
              <a:rPr lang="en-US" sz="1450" dirty="0">
                <a:solidFill>
                  <a:srgbClr val="4E5868"/>
                </a:solidFill>
                <a:latin typeface="Arial" pitchFamily="34" charset="0"/>
                <a:ea typeface="Arial" pitchFamily="34" charset="-122"/>
                <a:cs typeface="Arial" pitchFamily="34" charset="-120"/>
              </a:rPr>
              <a:t>Grok 4.3 and DeepSeek V4 sit at 2×, so equal token cuts save less.</a:t>
            </a:r>
            <a:endParaRPr lang="en-US" sz="1450" dirty="0"/>
          </a:p>
        </p:txBody>
      </p:sp>
      <p:sp>
        <p:nvSpPr>
          <p:cNvPr id="9" name="Text 6"/>
          <p:cNvSpPr/>
          <p:nvPr/>
        </p:nvSpPr>
        <p:spPr>
          <a:xfrm>
            <a:off x="749808" y="4846320"/>
            <a:ext cx="10241280" cy="502920"/>
          </a:xfrm>
          <a:prstGeom prst="rect">
            <a:avLst/>
          </a:prstGeom>
          <a:noFill/>
          <a:ln/>
        </p:spPr>
        <p:txBody>
          <a:bodyPr wrap="square" lIns="635" tIns="635" rIns="635" bIns="635" rtlCol="0" anchor="t">
            <a:normAutofit/>
          </a:bodyPr>
          <a:lstStyle/>
          <a:p>
            <a:pPr indent="0" marL="0">
              <a:buNone/>
            </a:pPr>
            <a:r>
              <a:rPr lang="en-US" sz="1700" b="1" dirty="0">
                <a:solidFill>
                  <a:srgbClr val="111318"/>
                </a:solidFill>
                <a:latin typeface="Arial" pitchFamily="34" charset="0"/>
                <a:ea typeface="Arial" pitchFamily="34" charset="-122"/>
                <a:cs typeface="Arial" pitchFamily="34" charset="-120"/>
              </a:rPr>
              <a:t>Optimization priority: compress high-volume input first, but stabilize structured output before chasing novel output formats.</a:t>
            </a:r>
            <a:endParaRPr lang="en-US" sz="1700" dirty="0"/>
          </a:p>
        </p:txBody>
      </p:sp>
      <p:sp>
        <p:nvSpPr>
          <p:cNvPr id="10" name="Shape 7"/>
          <p:cNvSpPr/>
          <p:nvPr/>
        </p:nvSpPr>
        <p:spPr>
          <a:xfrm>
            <a:off x="594360" y="6428232"/>
            <a:ext cx="10835640" cy="0"/>
          </a:xfrm>
          <a:prstGeom prst="line">
            <a:avLst/>
          </a:prstGeom>
          <a:noFill/>
          <a:ln w="8890">
            <a:solidFill>
              <a:srgbClr val="CBD3DF"/>
            </a:solidFill>
            <a:prstDash val="solid"/>
          </a:ln>
        </p:spPr>
      </p:sp>
      <p:pic>
        <p:nvPicPr>
          <p:cNvPr id="11" name="Image 1" descr="/mnt/data/tokenomics_assets/logo_footer.png">    </p:cNvPr>
          <p:cNvPicPr>
            <a:picLocks noChangeAspect="1"/>
          </p:cNvPicPr>
          <p:nvPr/>
        </p:nvPicPr>
        <p:blipFill>
          <a:blip r:embed="rId2"/>
          <a:stretch>
            <a:fillRect/>
          </a:stretch>
        </p:blipFill>
        <p:spPr>
          <a:xfrm>
            <a:off x="865280" y="6510528"/>
            <a:ext cx="820615" cy="228600"/>
          </a:xfrm>
          <a:prstGeom prst="rect">
            <a:avLst/>
          </a:prstGeom>
        </p:spPr>
      </p:pic>
      <p:sp>
        <p:nvSpPr>
          <p:cNvPr id="12" name="Text 8"/>
          <p:cNvSpPr/>
          <p:nvPr/>
        </p:nvSpPr>
        <p:spPr>
          <a:xfrm>
            <a:off x="2057400" y="6510528"/>
            <a:ext cx="3931920" cy="182880"/>
          </a:xfrm>
          <a:prstGeom prst="rect">
            <a:avLst/>
          </a:prstGeom>
          <a:noFill/>
          <a:ln/>
        </p:spPr>
        <p:txBody>
          <a:bodyPr wrap="square" lIns="0" tIns="0" rIns="0" bIns="0" rtlCol="0" anchor="ctr"/>
          <a:lstStyle/>
          <a:p>
            <a:pPr indent="0" marL="0">
              <a:buNone/>
            </a:pPr>
            <a:r>
              <a:rPr lang="en-US" sz="750" dirty="0">
                <a:solidFill>
                  <a:srgbClr val="6B7280"/>
                </a:solidFill>
                <a:latin typeface="Arial" pitchFamily="34" charset="0"/>
                <a:ea typeface="Arial" pitchFamily="34" charset="-122"/>
                <a:cs typeface="Arial" pitchFamily="34" charset="-120"/>
              </a:rPr>
              <a:t>Prompt Ecology, Reverse Engineering —Embodied Agencies</a:t>
            </a:r>
            <a:endParaRPr lang="en-US" sz="750" dirty="0"/>
          </a:p>
        </p:txBody>
      </p:sp>
      <p:sp>
        <p:nvSpPr>
          <p:cNvPr id="13" name="Text 9"/>
          <p:cNvSpPr/>
          <p:nvPr/>
        </p:nvSpPr>
        <p:spPr>
          <a:xfrm>
            <a:off x="11064240" y="6473952"/>
            <a:ext cx="548640" cy="228600"/>
          </a:xfrm>
          <a:prstGeom prst="rect">
            <a:avLst/>
          </a:prstGeom>
          <a:noFill/>
          <a:ln/>
        </p:spPr>
        <p:txBody>
          <a:bodyPr wrap="square" lIns="0" tIns="0" rIns="0" bIns="0" rtlCol="0" anchor="ctr"/>
          <a:lstStyle/>
          <a:p>
            <a:pPr algn="r" indent="0" marL="0">
              <a:buNone/>
            </a:pPr>
            <a:r>
              <a:rPr lang="en-US" sz="850" b="1" dirty="0">
                <a:solidFill>
                  <a:srgbClr val="1957D2"/>
                </a:solidFill>
                <a:latin typeface="Arial" pitchFamily="34" charset="0"/>
                <a:ea typeface="Arial" pitchFamily="34" charset="-122"/>
                <a:cs typeface="Arial"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10652760" y="301752"/>
            <a:ext cx="960120" cy="960120"/>
          </a:xfrm>
          <a:prstGeom prst="rect">
            <a:avLst/>
          </a:prstGeom>
          <a:solidFill>
            <a:srgbClr val="1957D2"/>
          </a:solidFill>
          <a:ln w="12700">
            <a:solidFill>
              <a:srgbClr val="1957D2"/>
            </a:solidFill>
            <a:prstDash val="solid"/>
          </a:ln>
        </p:spPr>
      </p:sp>
      <p:sp>
        <p:nvSpPr>
          <p:cNvPr id="3" name="Text 1"/>
          <p:cNvSpPr/>
          <p:nvPr/>
        </p:nvSpPr>
        <p:spPr>
          <a:xfrm>
            <a:off x="621792" y="548640"/>
            <a:ext cx="3840480" cy="228600"/>
          </a:xfrm>
          <a:prstGeom prst="rect">
            <a:avLst/>
          </a:prstGeom>
          <a:noFill/>
          <a:ln/>
        </p:spPr>
        <p:txBody>
          <a:bodyPr wrap="square" lIns="0" tIns="0" rIns="0" bIns="0" rtlCol="0" anchor="ctr"/>
          <a:lstStyle/>
          <a:p>
            <a:pPr indent="0" marL="0">
              <a:buNone/>
            </a:pPr>
            <a:r>
              <a:rPr lang="en-US" sz="950" b="1" dirty="0">
                <a:solidFill>
                  <a:srgbClr val="1957D2"/>
                </a:solidFill>
                <a:latin typeface="Arial" pitchFamily="34" charset="0"/>
                <a:ea typeface="Arial" pitchFamily="34" charset="-122"/>
                <a:cs typeface="Arial" pitchFamily="34" charset="-120"/>
              </a:rPr>
              <a:t>BASELINE DISCIPLINE</a:t>
            </a:r>
            <a:endParaRPr lang="en-US" sz="950" dirty="0"/>
          </a:p>
        </p:txBody>
      </p:sp>
      <p:sp>
        <p:nvSpPr>
          <p:cNvPr id="4" name="Shape 2"/>
          <p:cNvSpPr/>
          <p:nvPr/>
        </p:nvSpPr>
        <p:spPr>
          <a:xfrm>
            <a:off x="621792" y="896112"/>
            <a:ext cx="731520" cy="0"/>
          </a:xfrm>
          <a:prstGeom prst="line">
            <a:avLst/>
          </a:prstGeom>
          <a:noFill/>
          <a:ln w="25400">
            <a:solidFill>
              <a:srgbClr val="1957D2"/>
            </a:solidFill>
            <a:prstDash val="solid"/>
          </a:ln>
        </p:spPr>
      </p:sp>
      <p:sp>
        <p:nvSpPr>
          <p:cNvPr id="5" name="Text 3"/>
          <p:cNvSpPr/>
          <p:nvPr/>
        </p:nvSpPr>
        <p:spPr>
          <a:xfrm>
            <a:off x="621792" y="1005840"/>
            <a:ext cx="7040880" cy="384048"/>
          </a:xfrm>
          <a:prstGeom prst="rect">
            <a:avLst/>
          </a:prstGeom>
          <a:noFill/>
          <a:ln/>
        </p:spPr>
        <p:txBody>
          <a:bodyPr wrap="square" lIns="0" tIns="0" rIns="0" bIns="0" rtlCol="0" anchor="ctr">
            <a:normAutofit/>
          </a:bodyPr>
          <a:lstStyle/>
          <a:p>
            <a:pPr indent="0" marL="0">
              <a:buNone/>
            </a:pPr>
            <a:r>
              <a:rPr lang="en-US" sz="3100" b="1" dirty="0">
                <a:solidFill>
                  <a:srgbClr val="111318"/>
                </a:solidFill>
                <a:latin typeface="Arial" pitchFamily="34" charset="0"/>
                <a:ea typeface="Arial" pitchFamily="34" charset="-122"/>
                <a:cs typeface="Arial" pitchFamily="34" charset="-120"/>
              </a:rPr>
              <a:t>Name the baseline before claiming savings</a:t>
            </a:r>
            <a:endParaRPr lang="en-US" sz="3100" dirty="0"/>
          </a:p>
        </p:txBody>
      </p:sp>
      <p:pic>
        <p:nvPicPr>
          <p:cNvPr id="6" name="Image 0" descr="/mnt/data/tokenomics_assets/yaml_baseline_flip.png">    </p:cNvPr>
          <p:cNvPicPr>
            <a:picLocks noChangeAspect="1"/>
          </p:cNvPicPr>
          <p:nvPr/>
        </p:nvPicPr>
        <p:blipFill>
          <a:blip r:embed="rId1"/>
          <a:stretch>
            <a:fillRect/>
          </a:stretch>
        </p:blipFill>
        <p:spPr>
          <a:xfrm>
            <a:off x="774874" y="1417320"/>
            <a:ext cx="4979068" cy="2971800"/>
          </a:xfrm>
          <a:prstGeom prst="rect">
            <a:avLst/>
          </a:prstGeom>
        </p:spPr>
      </p:pic>
      <p:pic>
        <p:nvPicPr>
          <p:cNvPr id="7" name="Image 1" descr="/mnt/data/tokenomics_assets/cost_at_scale_table.png">    </p:cNvPr>
          <p:cNvPicPr>
            <a:picLocks noChangeAspect="1"/>
          </p:cNvPicPr>
          <p:nvPr/>
        </p:nvPicPr>
        <p:blipFill>
          <a:blip r:embed="rId2"/>
          <a:stretch>
            <a:fillRect/>
          </a:stretch>
        </p:blipFill>
        <p:spPr>
          <a:xfrm>
            <a:off x="6263640" y="1864995"/>
            <a:ext cx="4983480" cy="2076450"/>
          </a:xfrm>
          <a:prstGeom prst="rect">
            <a:avLst/>
          </a:prstGeom>
        </p:spPr>
      </p:pic>
      <p:sp>
        <p:nvSpPr>
          <p:cNvPr id="8" name="Text 4"/>
          <p:cNvSpPr/>
          <p:nvPr/>
        </p:nvSpPr>
        <p:spPr>
          <a:xfrm>
            <a:off x="749808" y="4709160"/>
            <a:ext cx="10241280" cy="713232"/>
          </a:xfrm>
          <a:prstGeom prst="rect">
            <a:avLst/>
          </a:prstGeom>
          <a:noFill/>
          <a:ln/>
        </p:spPr>
        <p:txBody>
          <a:bodyPr wrap="square" lIns="635" tIns="635" rIns="635" bIns="635" rtlCol="0" anchor="t">
            <a:normAutofit/>
          </a:bodyPr>
          <a:lstStyle/>
          <a:p>
            <a:pPr indent="0" marL="0">
              <a:buNone/>
            </a:pPr>
            <a:r>
              <a:rPr lang="en-US" sz="1600" b="1" dirty="0">
                <a:solidFill>
                  <a:srgbClr val="111318"/>
                </a:solidFill>
                <a:latin typeface="Arial" pitchFamily="34" charset="0"/>
                <a:ea typeface="Arial" pitchFamily="34" charset="-122"/>
                <a:cs typeface="Arial" pitchFamily="34" charset="-120"/>
              </a:rPr>
              <a:t>YAML is 21.3% smaller than pretty JSON but 26.5% larger than compact JSON in the same TOON 100-employee dataset. For automated prompt assembly, compact JSON is the relevant baseline.</a:t>
            </a:r>
            <a:endParaRPr lang="en-US" sz="1600" dirty="0"/>
          </a:p>
        </p:txBody>
      </p:sp>
      <p:sp>
        <p:nvSpPr>
          <p:cNvPr id="9" name="Shape 5"/>
          <p:cNvSpPr/>
          <p:nvPr/>
        </p:nvSpPr>
        <p:spPr>
          <a:xfrm>
            <a:off x="594360" y="6428232"/>
            <a:ext cx="10835640" cy="0"/>
          </a:xfrm>
          <a:prstGeom prst="line">
            <a:avLst/>
          </a:prstGeom>
          <a:noFill/>
          <a:ln w="8890">
            <a:solidFill>
              <a:srgbClr val="CBD3DF"/>
            </a:solidFill>
            <a:prstDash val="solid"/>
          </a:ln>
        </p:spPr>
      </p:sp>
      <p:pic>
        <p:nvPicPr>
          <p:cNvPr id="10" name="Image 2" descr="/mnt/data/tokenomics_assets/logo_footer.png">    </p:cNvPr>
          <p:cNvPicPr>
            <a:picLocks noChangeAspect="1"/>
          </p:cNvPicPr>
          <p:nvPr/>
        </p:nvPicPr>
        <p:blipFill>
          <a:blip r:embed="rId3"/>
          <a:stretch>
            <a:fillRect/>
          </a:stretch>
        </p:blipFill>
        <p:spPr>
          <a:xfrm>
            <a:off x="865280" y="6510528"/>
            <a:ext cx="820615" cy="228600"/>
          </a:xfrm>
          <a:prstGeom prst="rect">
            <a:avLst/>
          </a:prstGeom>
        </p:spPr>
      </p:pic>
      <p:sp>
        <p:nvSpPr>
          <p:cNvPr id="11" name="Text 6"/>
          <p:cNvSpPr/>
          <p:nvPr/>
        </p:nvSpPr>
        <p:spPr>
          <a:xfrm>
            <a:off x="2057400" y="6510528"/>
            <a:ext cx="3931920" cy="182880"/>
          </a:xfrm>
          <a:prstGeom prst="rect">
            <a:avLst/>
          </a:prstGeom>
          <a:noFill/>
          <a:ln/>
        </p:spPr>
        <p:txBody>
          <a:bodyPr wrap="square" lIns="0" tIns="0" rIns="0" bIns="0" rtlCol="0" anchor="ctr"/>
          <a:lstStyle/>
          <a:p>
            <a:pPr indent="0" marL="0">
              <a:buNone/>
            </a:pPr>
            <a:r>
              <a:rPr lang="en-US" sz="750" dirty="0">
                <a:solidFill>
                  <a:srgbClr val="6B7280"/>
                </a:solidFill>
                <a:latin typeface="Arial" pitchFamily="34" charset="0"/>
                <a:ea typeface="Arial" pitchFamily="34" charset="-122"/>
                <a:cs typeface="Arial" pitchFamily="34" charset="-120"/>
              </a:rPr>
              <a:t>Prompt Ecology, Reverse Engineering —Embodied Agencies</a:t>
            </a:r>
            <a:endParaRPr lang="en-US" sz="750" dirty="0"/>
          </a:p>
        </p:txBody>
      </p:sp>
      <p:sp>
        <p:nvSpPr>
          <p:cNvPr id="12" name="Text 7"/>
          <p:cNvSpPr/>
          <p:nvPr/>
        </p:nvSpPr>
        <p:spPr>
          <a:xfrm>
            <a:off x="11064240" y="6473952"/>
            <a:ext cx="548640" cy="228600"/>
          </a:xfrm>
          <a:prstGeom prst="rect">
            <a:avLst/>
          </a:prstGeom>
          <a:noFill/>
          <a:ln/>
        </p:spPr>
        <p:txBody>
          <a:bodyPr wrap="square" lIns="0" tIns="0" rIns="0" bIns="0" rtlCol="0" anchor="ctr"/>
          <a:lstStyle/>
          <a:p>
            <a:pPr algn="r" indent="0" marL="0">
              <a:buNone/>
            </a:pPr>
            <a:r>
              <a:rPr lang="en-US" sz="850" b="1" dirty="0">
                <a:solidFill>
                  <a:srgbClr val="1957D2"/>
                </a:solidFill>
                <a:latin typeface="Arial" pitchFamily="34" charset="0"/>
                <a:ea typeface="Arial" pitchFamily="34" charset="-122"/>
                <a:cs typeface="Arial"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10652760" y="301752"/>
            <a:ext cx="960120" cy="960120"/>
          </a:xfrm>
          <a:prstGeom prst="rect">
            <a:avLst/>
          </a:prstGeom>
          <a:solidFill>
            <a:srgbClr val="1957D2"/>
          </a:solidFill>
          <a:ln w="12700">
            <a:solidFill>
              <a:srgbClr val="1957D2"/>
            </a:solidFill>
            <a:prstDash val="solid"/>
          </a:ln>
        </p:spPr>
      </p:sp>
      <p:sp>
        <p:nvSpPr>
          <p:cNvPr id="3" name="Text 1"/>
          <p:cNvSpPr/>
          <p:nvPr/>
        </p:nvSpPr>
        <p:spPr>
          <a:xfrm>
            <a:off x="621792" y="548640"/>
            <a:ext cx="3840480" cy="228600"/>
          </a:xfrm>
          <a:prstGeom prst="rect">
            <a:avLst/>
          </a:prstGeom>
          <a:noFill/>
          <a:ln/>
        </p:spPr>
        <p:txBody>
          <a:bodyPr wrap="square" lIns="0" tIns="0" rIns="0" bIns="0" rtlCol="0" anchor="ctr"/>
          <a:lstStyle/>
          <a:p>
            <a:pPr indent="0" marL="0">
              <a:buNone/>
            </a:pPr>
            <a:r>
              <a:rPr lang="en-US" sz="950" b="1" dirty="0">
                <a:solidFill>
                  <a:srgbClr val="1957D2"/>
                </a:solidFill>
                <a:latin typeface="Arial" pitchFamily="34" charset="0"/>
                <a:ea typeface="Arial" pitchFamily="34" charset="-122"/>
                <a:cs typeface="Arial" pitchFamily="34" charset="-120"/>
              </a:rPr>
              <a:t>STRUCTURED OUTPUT</a:t>
            </a:r>
            <a:endParaRPr lang="en-US" sz="950" dirty="0"/>
          </a:p>
        </p:txBody>
      </p:sp>
      <p:sp>
        <p:nvSpPr>
          <p:cNvPr id="4" name="Shape 2"/>
          <p:cNvSpPr/>
          <p:nvPr/>
        </p:nvSpPr>
        <p:spPr>
          <a:xfrm>
            <a:off x="621792" y="896112"/>
            <a:ext cx="731520" cy="0"/>
          </a:xfrm>
          <a:prstGeom prst="line">
            <a:avLst/>
          </a:prstGeom>
          <a:noFill/>
          <a:ln w="25400">
            <a:solidFill>
              <a:srgbClr val="1957D2"/>
            </a:solidFill>
            <a:prstDash val="solid"/>
          </a:ln>
        </p:spPr>
      </p:sp>
      <p:sp>
        <p:nvSpPr>
          <p:cNvPr id="5" name="Text 3"/>
          <p:cNvSpPr/>
          <p:nvPr/>
        </p:nvSpPr>
        <p:spPr>
          <a:xfrm>
            <a:off x="621792" y="1005840"/>
            <a:ext cx="7040880" cy="384048"/>
          </a:xfrm>
          <a:prstGeom prst="rect">
            <a:avLst/>
          </a:prstGeom>
          <a:noFill/>
          <a:ln/>
        </p:spPr>
        <p:txBody>
          <a:bodyPr wrap="square" lIns="0" tIns="0" rIns="0" bIns="0" rtlCol="0" anchor="ctr">
            <a:normAutofit/>
          </a:bodyPr>
          <a:lstStyle/>
          <a:p>
            <a:pPr indent="0" marL="0">
              <a:buNone/>
            </a:pPr>
            <a:r>
              <a:rPr lang="en-US" sz="3100" b="1" dirty="0">
                <a:solidFill>
                  <a:srgbClr val="111318"/>
                </a:solidFill>
                <a:latin typeface="Arial" pitchFamily="34" charset="0"/>
                <a:ea typeface="Arial" pitchFamily="34" charset="-122"/>
                <a:cs typeface="Arial" pitchFamily="34" charset="-120"/>
              </a:rPr>
              <a:t>Savings only count if the system can trust the result</a:t>
            </a:r>
            <a:endParaRPr lang="en-US" sz="3100" dirty="0"/>
          </a:p>
        </p:txBody>
      </p:sp>
      <p:pic>
        <p:nvPicPr>
          <p:cNvPr id="6" name="Image 0" descr="/mnt/data/tokenomics_assets/reliability_hierarchy.png">    </p:cNvPr>
          <p:cNvPicPr>
            <a:picLocks noChangeAspect="1"/>
          </p:cNvPicPr>
          <p:nvPr/>
        </p:nvPicPr>
        <p:blipFill>
          <a:blip r:embed="rId1"/>
          <a:stretch>
            <a:fillRect/>
          </a:stretch>
        </p:blipFill>
        <p:spPr>
          <a:xfrm>
            <a:off x="1557127" y="2743200"/>
            <a:ext cx="5197642" cy="2057400"/>
          </a:xfrm>
          <a:prstGeom prst="rect">
            <a:avLst/>
          </a:prstGeom>
        </p:spPr>
      </p:pic>
      <p:sp>
        <p:nvSpPr>
          <p:cNvPr id="7" name="Text 4"/>
          <p:cNvSpPr/>
          <p:nvPr/>
        </p:nvSpPr>
        <p:spPr>
          <a:xfrm>
            <a:off x="658368" y="1508760"/>
            <a:ext cx="5943600" cy="777240"/>
          </a:xfrm>
          <a:prstGeom prst="rect">
            <a:avLst/>
          </a:prstGeom>
          <a:noFill/>
          <a:ln/>
        </p:spPr>
        <p:txBody>
          <a:bodyPr wrap="square" lIns="635" tIns="635" rIns="635" bIns="635" rtlCol="0" anchor="t">
            <a:normAutofit/>
          </a:bodyPr>
          <a:lstStyle/>
          <a:p>
            <a:pPr indent="0" marL="0">
              <a:buNone/>
            </a:pPr>
            <a:r>
              <a:rPr lang="en-US" sz="1700" dirty="0">
                <a:solidFill>
                  <a:srgbClr val="4E5868"/>
                </a:solidFill>
                <a:latin typeface="Arial" pitchFamily="34" charset="0"/>
                <a:ea typeface="Arial" pitchFamily="34" charset="-122"/>
                <a:cs typeface="Arial" pitchFamily="34" charset="-120"/>
              </a:rPr>
              <a:t>Token reduction is economically useful only if the downstream system can parse the result and avoid repair loops.</a:t>
            </a:r>
            <a:endParaRPr lang="en-US" sz="1700" dirty="0"/>
          </a:p>
        </p:txBody>
      </p:sp>
      <p:sp>
        <p:nvSpPr>
          <p:cNvPr id="8" name="Text 5"/>
          <p:cNvSpPr/>
          <p:nvPr/>
        </p:nvSpPr>
        <p:spPr>
          <a:xfrm>
            <a:off x="8046720" y="1691640"/>
            <a:ext cx="2194560" cy="320040"/>
          </a:xfrm>
          <a:prstGeom prst="rect">
            <a:avLst/>
          </a:prstGeom>
          <a:noFill/>
          <a:ln/>
        </p:spPr>
        <p:txBody>
          <a:bodyPr wrap="square" lIns="0" tIns="0" rIns="0" bIns="0" rtlCol="0" anchor="ctr"/>
          <a:lstStyle/>
          <a:p>
            <a:pPr indent="0" marL="0">
              <a:buNone/>
            </a:pPr>
            <a:r>
              <a:rPr lang="en-US" sz="1800" b="1" dirty="0">
                <a:solidFill>
                  <a:srgbClr val="111318"/>
                </a:solidFill>
                <a:latin typeface="Arial" pitchFamily="34" charset="0"/>
                <a:ea typeface="Arial" pitchFamily="34" charset="-122"/>
                <a:cs typeface="Arial" pitchFamily="34" charset="-120"/>
              </a:rPr>
              <a:t>Output rule</a:t>
            </a:r>
            <a:endParaRPr lang="en-US" sz="1800" dirty="0"/>
          </a:p>
        </p:txBody>
      </p:sp>
      <p:sp>
        <p:nvSpPr>
          <p:cNvPr id="9" name="Text 6"/>
          <p:cNvSpPr/>
          <p:nvPr/>
        </p:nvSpPr>
        <p:spPr>
          <a:xfrm>
            <a:off x="8046720" y="2121408"/>
            <a:ext cx="3429000" cy="2240280"/>
          </a:xfrm>
          <a:prstGeom prst="rect">
            <a:avLst/>
          </a:prstGeom>
          <a:noFill/>
          <a:ln/>
        </p:spPr>
        <p:txBody>
          <a:bodyPr wrap="square" lIns="635" tIns="635" rIns="635" bIns="635" rtlCol="0" anchor="ctr">
            <a:normAutofit/>
          </a:bodyPr>
          <a:lstStyle/>
          <a:p>
            <a:r>
              <a:rPr lang="en-US" sz="1440" dirty="0">
                <a:solidFill>
                  <a:srgbClr val="4E5868"/>
                </a:solidFill>
                <a:latin typeface="Arial" pitchFamily="34" charset="0"/>
                <a:ea typeface="Arial" pitchFamily="34" charset="-122"/>
                <a:cs typeface="Arial" pitchFamily="34" charset="-120"/>
              </a:rPr>
              <a:t>Use provider-native JSON Schema or strict tool/function calling for machine-consumed outputs.
</a:t>
            </a:r>
            <a:endParaRPr lang="en-US" sz="1440" dirty="0"/>
          </a:p>
          <a:p>
            <a:r>
              <a:rPr lang="en-US" sz="1440" dirty="0">
                <a:solidFill>
                  <a:srgbClr val="4E5868"/>
                </a:solidFill>
                <a:latin typeface="Arial" pitchFamily="34" charset="0"/>
                <a:ea typeface="Arial" pitchFamily="34" charset="-122"/>
                <a:cs typeface="Arial" pitchFamily="34" charset="-120"/>
              </a:rPr>
              <a:t>Plain compact JSON plus validator is acceptable with retries.
</a:t>
            </a:r>
            <a:endParaRPr lang="en-US" sz="1440" dirty="0"/>
          </a:p>
          <a:p>
            <a:r>
              <a:rPr lang="en-US" sz="1440" dirty="0">
                <a:solidFill>
                  <a:srgbClr val="4E5868"/>
                </a:solidFill>
                <a:latin typeface="Arial" pitchFamily="34" charset="0"/>
                <a:ea typeface="Arial" pitchFamily="34" charset="-122"/>
                <a:cs typeface="Arial" pitchFamily="34" charset="-120"/>
              </a:rPr>
              <a:t>Generated CSV, YAML, or TOON requires custom escaping, validation, and repair logic.</a:t>
            </a:r>
            <a:endParaRPr lang="en-US" sz="1440" dirty="0"/>
          </a:p>
        </p:txBody>
      </p:sp>
      <p:sp>
        <p:nvSpPr>
          <p:cNvPr id="10" name="Shape 7"/>
          <p:cNvSpPr/>
          <p:nvPr/>
        </p:nvSpPr>
        <p:spPr>
          <a:xfrm>
            <a:off x="594360" y="6428232"/>
            <a:ext cx="10835640" cy="0"/>
          </a:xfrm>
          <a:prstGeom prst="line">
            <a:avLst/>
          </a:prstGeom>
          <a:noFill/>
          <a:ln w="8890">
            <a:solidFill>
              <a:srgbClr val="CBD3DF"/>
            </a:solidFill>
            <a:prstDash val="solid"/>
          </a:ln>
        </p:spPr>
      </p:sp>
      <p:pic>
        <p:nvPicPr>
          <p:cNvPr id="11" name="Image 1" descr="/mnt/data/tokenomics_assets/logo_footer.png">    </p:cNvPr>
          <p:cNvPicPr>
            <a:picLocks noChangeAspect="1"/>
          </p:cNvPicPr>
          <p:nvPr/>
        </p:nvPicPr>
        <p:blipFill>
          <a:blip r:embed="rId2"/>
          <a:stretch>
            <a:fillRect/>
          </a:stretch>
        </p:blipFill>
        <p:spPr>
          <a:xfrm>
            <a:off x="865280" y="6510528"/>
            <a:ext cx="820615" cy="228600"/>
          </a:xfrm>
          <a:prstGeom prst="rect">
            <a:avLst/>
          </a:prstGeom>
        </p:spPr>
      </p:pic>
      <p:sp>
        <p:nvSpPr>
          <p:cNvPr id="12" name="Text 8"/>
          <p:cNvSpPr/>
          <p:nvPr/>
        </p:nvSpPr>
        <p:spPr>
          <a:xfrm>
            <a:off x="2057400" y="6510528"/>
            <a:ext cx="3931920" cy="182880"/>
          </a:xfrm>
          <a:prstGeom prst="rect">
            <a:avLst/>
          </a:prstGeom>
          <a:noFill/>
          <a:ln/>
        </p:spPr>
        <p:txBody>
          <a:bodyPr wrap="square" lIns="0" tIns="0" rIns="0" bIns="0" rtlCol="0" anchor="ctr"/>
          <a:lstStyle/>
          <a:p>
            <a:pPr indent="0" marL="0">
              <a:buNone/>
            </a:pPr>
            <a:r>
              <a:rPr lang="en-US" sz="750" dirty="0">
                <a:solidFill>
                  <a:srgbClr val="6B7280"/>
                </a:solidFill>
                <a:latin typeface="Arial" pitchFamily="34" charset="0"/>
                <a:ea typeface="Arial" pitchFamily="34" charset="-122"/>
                <a:cs typeface="Arial" pitchFamily="34" charset="-120"/>
              </a:rPr>
              <a:t>Prompt Ecology, Reverse Engineering —Embodied Agencies</a:t>
            </a:r>
            <a:endParaRPr lang="en-US" sz="750" dirty="0"/>
          </a:p>
        </p:txBody>
      </p:sp>
      <p:sp>
        <p:nvSpPr>
          <p:cNvPr id="13" name="Text 9"/>
          <p:cNvSpPr/>
          <p:nvPr/>
        </p:nvSpPr>
        <p:spPr>
          <a:xfrm>
            <a:off x="11064240" y="6473952"/>
            <a:ext cx="548640" cy="228600"/>
          </a:xfrm>
          <a:prstGeom prst="rect">
            <a:avLst/>
          </a:prstGeom>
          <a:noFill/>
          <a:ln/>
        </p:spPr>
        <p:txBody>
          <a:bodyPr wrap="square" lIns="0" tIns="0" rIns="0" bIns="0" rtlCol="0" anchor="ctr"/>
          <a:lstStyle/>
          <a:p>
            <a:pPr algn="r" indent="0" marL="0">
              <a:buNone/>
            </a:pPr>
            <a:r>
              <a:rPr lang="en-US" sz="850" b="1" dirty="0">
                <a:solidFill>
                  <a:srgbClr val="1957D2"/>
                </a:solidFill>
                <a:latin typeface="Arial" pitchFamily="34" charset="0"/>
                <a:ea typeface="Arial" pitchFamily="34" charset="-122"/>
                <a:cs typeface="Arial" pitchFamily="34" charset="-120"/>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10652760" y="301752"/>
            <a:ext cx="960120" cy="960120"/>
          </a:xfrm>
          <a:prstGeom prst="rect">
            <a:avLst/>
          </a:prstGeom>
          <a:solidFill>
            <a:srgbClr val="1957D2"/>
          </a:solidFill>
          <a:ln w="12700">
            <a:solidFill>
              <a:srgbClr val="1957D2"/>
            </a:solidFill>
            <a:prstDash val="solid"/>
          </a:ln>
        </p:spPr>
      </p:sp>
      <p:sp>
        <p:nvSpPr>
          <p:cNvPr id="3" name="Text 1"/>
          <p:cNvSpPr/>
          <p:nvPr/>
        </p:nvSpPr>
        <p:spPr>
          <a:xfrm>
            <a:off x="621792" y="548640"/>
            <a:ext cx="3840480" cy="228600"/>
          </a:xfrm>
          <a:prstGeom prst="rect">
            <a:avLst/>
          </a:prstGeom>
          <a:noFill/>
          <a:ln/>
        </p:spPr>
        <p:txBody>
          <a:bodyPr wrap="square" lIns="0" tIns="0" rIns="0" bIns="0" rtlCol="0" anchor="ctr"/>
          <a:lstStyle/>
          <a:p>
            <a:pPr indent="0" marL="0">
              <a:buNone/>
            </a:pPr>
            <a:r>
              <a:rPr lang="en-US" sz="950" b="1" dirty="0">
                <a:solidFill>
                  <a:srgbClr val="1957D2"/>
                </a:solidFill>
                <a:latin typeface="Arial" pitchFamily="34" charset="0"/>
                <a:ea typeface="Arial" pitchFamily="34" charset="-122"/>
                <a:cs typeface="Arial" pitchFamily="34" charset="-120"/>
              </a:rPr>
              <a:t>DECISION FLOW</a:t>
            </a:r>
            <a:endParaRPr lang="en-US" sz="950" dirty="0"/>
          </a:p>
        </p:txBody>
      </p:sp>
      <p:sp>
        <p:nvSpPr>
          <p:cNvPr id="4" name="Shape 2"/>
          <p:cNvSpPr/>
          <p:nvPr/>
        </p:nvSpPr>
        <p:spPr>
          <a:xfrm>
            <a:off x="621792" y="896112"/>
            <a:ext cx="731520" cy="0"/>
          </a:xfrm>
          <a:prstGeom prst="line">
            <a:avLst/>
          </a:prstGeom>
          <a:noFill/>
          <a:ln w="25400">
            <a:solidFill>
              <a:srgbClr val="1957D2"/>
            </a:solidFill>
            <a:prstDash val="solid"/>
          </a:ln>
        </p:spPr>
      </p:sp>
      <p:sp>
        <p:nvSpPr>
          <p:cNvPr id="5" name="Text 3"/>
          <p:cNvSpPr/>
          <p:nvPr/>
        </p:nvSpPr>
        <p:spPr>
          <a:xfrm>
            <a:off x="621792" y="1005840"/>
            <a:ext cx="7040880" cy="384048"/>
          </a:xfrm>
          <a:prstGeom prst="rect">
            <a:avLst/>
          </a:prstGeom>
          <a:noFill/>
          <a:ln/>
        </p:spPr>
        <p:txBody>
          <a:bodyPr wrap="square" lIns="0" tIns="0" rIns="0" bIns="0" rtlCol="0" anchor="ctr">
            <a:normAutofit/>
          </a:bodyPr>
          <a:lstStyle/>
          <a:p>
            <a:pPr indent="0" marL="0">
              <a:buNone/>
            </a:pPr>
            <a:r>
              <a:rPr lang="en-US" sz="3100" b="1" dirty="0">
                <a:solidFill>
                  <a:srgbClr val="111318"/>
                </a:solidFill>
                <a:latin typeface="Arial" pitchFamily="34" charset="0"/>
                <a:ea typeface="Arial" pitchFamily="34" charset="-122"/>
                <a:cs typeface="Arial" pitchFamily="34" charset="-120"/>
              </a:rPr>
              <a:t>A practical selection logic</a:t>
            </a:r>
            <a:endParaRPr lang="en-US" sz="3100" dirty="0"/>
          </a:p>
        </p:txBody>
      </p:sp>
      <p:pic>
        <p:nvPicPr>
          <p:cNvPr id="6" name="Image 0" descr="/mnt/data/tokenomics_assets/decision_flow.png">    </p:cNvPr>
          <p:cNvPicPr>
            <a:picLocks noChangeAspect="1"/>
          </p:cNvPicPr>
          <p:nvPr/>
        </p:nvPicPr>
        <p:blipFill>
          <a:blip r:embed="rId1"/>
          <a:stretch>
            <a:fillRect/>
          </a:stretch>
        </p:blipFill>
        <p:spPr>
          <a:xfrm>
            <a:off x="832770" y="1417320"/>
            <a:ext cx="6234876" cy="4526280"/>
          </a:xfrm>
          <a:prstGeom prst="rect">
            <a:avLst/>
          </a:prstGeom>
        </p:spPr>
      </p:pic>
      <p:sp>
        <p:nvSpPr>
          <p:cNvPr id="7" name="Text 4"/>
          <p:cNvSpPr/>
          <p:nvPr/>
        </p:nvSpPr>
        <p:spPr>
          <a:xfrm>
            <a:off x="7607808" y="1627632"/>
            <a:ext cx="3017520" cy="320040"/>
          </a:xfrm>
          <a:prstGeom prst="rect">
            <a:avLst/>
          </a:prstGeom>
          <a:noFill/>
          <a:ln/>
        </p:spPr>
        <p:txBody>
          <a:bodyPr wrap="square" lIns="0" tIns="0" rIns="0" bIns="0" rtlCol="0" anchor="ctr"/>
          <a:lstStyle/>
          <a:p>
            <a:pPr indent="0" marL="0">
              <a:buNone/>
            </a:pPr>
            <a:r>
              <a:rPr lang="en-US" sz="1800" b="1" dirty="0">
                <a:solidFill>
                  <a:srgbClr val="111318"/>
                </a:solidFill>
                <a:latin typeface="Arial" pitchFamily="34" charset="0"/>
                <a:ea typeface="Arial" pitchFamily="34" charset="-122"/>
                <a:cs typeface="Arial" pitchFamily="34" charset="-120"/>
              </a:rPr>
              <a:t>Use this order</a:t>
            </a:r>
            <a:endParaRPr lang="en-US" sz="1800" dirty="0"/>
          </a:p>
        </p:txBody>
      </p:sp>
      <p:sp>
        <p:nvSpPr>
          <p:cNvPr id="8" name="Text 5"/>
          <p:cNvSpPr/>
          <p:nvPr/>
        </p:nvSpPr>
        <p:spPr>
          <a:xfrm>
            <a:off x="7607808" y="2057400"/>
            <a:ext cx="3886200" cy="2743200"/>
          </a:xfrm>
          <a:prstGeom prst="rect">
            <a:avLst/>
          </a:prstGeom>
          <a:noFill/>
          <a:ln/>
        </p:spPr>
        <p:txBody>
          <a:bodyPr wrap="square" lIns="635" tIns="635" rIns="635" bIns="635" rtlCol="0" anchor="ctr">
            <a:normAutofit/>
          </a:bodyPr>
          <a:lstStyle/>
          <a:p>
            <a:r>
              <a:rPr lang="en-US" sz="1440" dirty="0">
                <a:solidFill>
                  <a:srgbClr val="4E5868"/>
                </a:solidFill>
                <a:latin typeface="Arial" pitchFamily="34" charset="0"/>
                <a:ea typeface="Arial" pitchFamily="34" charset="-122"/>
                <a:cs typeface="Arial" pitchFamily="34" charset="-120"/>
              </a:rPr>
              <a:t>Flat and tabular → CSV or TSV.
</a:t>
            </a:r>
            <a:endParaRPr lang="en-US" sz="1440" dirty="0"/>
          </a:p>
          <a:p>
            <a:r>
              <a:rPr lang="en-US" sz="1440" dirty="0">
                <a:solidFill>
                  <a:srgbClr val="4E5868"/>
                </a:solidFill>
                <a:latin typeface="Arial" pitchFamily="34" charset="0"/>
                <a:ea typeface="Arial" pitchFamily="34" charset="-122"/>
                <a:cs typeface="Arial" pitchFamily="34" charset="-120"/>
              </a:rPr>
              <a:t>Large uniform array → benchmark TOON against CSV and compact JSON.
</a:t>
            </a:r>
            <a:endParaRPr lang="en-US" sz="1440" dirty="0"/>
          </a:p>
          <a:p>
            <a:r>
              <a:rPr lang="en-US" sz="1440" dirty="0">
                <a:solidFill>
                  <a:srgbClr val="4E5868"/>
                </a:solidFill>
                <a:latin typeface="Arial" pitchFamily="34" charset="0"/>
                <a:ea typeface="Arial" pitchFamily="34" charset="-122"/>
                <a:cs typeface="Arial" pitchFamily="34" charset="-120"/>
              </a:rPr>
              <a:t>Nested or mixed → compact JSON.
</a:t>
            </a:r>
            <a:endParaRPr lang="en-US" sz="1440" dirty="0"/>
          </a:p>
          <a:p>
            <a:r>
              <a:rPr lang="en-US" sz="1440" dirty="0">
                <a:solidFill>
                  <a:srgbClr val="4E5868"/>
                </a:solidFill>
                <a:latin typeface="Arial" pitchFamily="34" charset="0"/>
                <a:ea typeface="Arial" pitchFamily="34" charset="-122"/>
                <a:cs typeface="Arial" pitchFamily="34" charset="-120"/>
              </a:rPr>
              <a:t>Machine output → JSON Schema or strict tool call.
</a:t>
            </a:r>
            <a:endParaRPr lang="en-US" sz="1440" dirty="0"/>
          </a:p>
          <a:p>
            <a:r>
              <a:rPr lang="en-US" sz="1440" dirty="0">
                <a:solidFill>
                  <a:srgbClr val="4E5868"/>
                </a:solidFill>
                <a:latin typeface="Arial" pitchFamily="34" charset="0"/>
                <a:ea typeface="Arial" pitchFamily="34" charset="-122"/>
                <a:cs typeface="Arial" pitchFamily="34" charset="-120"/>
              </a:rPr>
              <a:t>Human-authored config → YAML/TOML for maintainability, not blanket token savings.</a:t>
            </a:r>
            <a:endParaRPr lang="en-US" sz="1440" dirty="0"/>
          </a:p>
        </p:txBody>
      </p:sp>
      <p:sp>
        <p:nvSpPr>
          <p:cNvPr id="9" name="Shape 6"/>
          <p:cNvSpPr/>
          <p:nvPr/>
        </p:nvSpPr>
        <p:spPr>
          <a:xfrm>
            <a:off x="594360" y="6428232"/>
            <a:ext cx="10835640" cy="0"/>
          </a:xfrm>
          <a:prstGeom prst="line">
            <a:avLst/>
          </a:prstGeom>
          <a:noFill/>
          <a:ln w="8890">
            <a:solidFill>
              <a:srgbClr val="CBD3DF"/>
            </a:solidFill>
            <a:prstDash val="solid"/>
          </a:ln>
        </p:spPr>
      </p:sp>
      <p:pic>
        <p:nvPicPr>
          <p:cNvPr id="10" name="Image 1" descr="/mnt/data/tokenomics_assets/logo_footer.png">    </p:cNvPr>
          <p:cNvPicPr>
            <a:picLocks noChangeAspect="1"/>
          </p:cNvPicPr>
          <p:nvPr/>
        </p:nvPicPr>
        <p:blipFill>
          <a:blip r:embed="rId2"/>
          <a:stretch>
            <a:fillRect/>
          </a:stretch>
        </p:blipFill>
        <p:spPr>
          <a:xfrm>
            <a:off x="865280" y="6510528"/>
            <a:ext cx="820615" cy="228600"/>
          </a:xfrm>
          <a:prstGeom prst="rect">
            <a:avLst/>
          </a:prstGeom>
        </p:spPr>
      </p:pic>
      <p:sp>
        <p:nvSpPr>
          <p:cNvPr id="11" name="Text 7"/>
          <p:cNvSpPr/>
          <p:nvPr/>
        </p:nvSpPr>
        <p:spPr>
          <a:xfrm>
            <a:off x="2057400" y="6510528"/>
            <a:ext cx="3931920" cy="182880"/>
          </a:xfrm>
          <a:prstGeom prst="rect">
            <a:avLst/>
          </a:prstGeom>
          <a:noFill/>
          <a:ln/>
        </p:spPr>
        <p:txBody>
          <a:bodyPr wrap="square" lIns="0" tIns="0" rIns="0" bIns="0" rtlCol="0" anchor="ctr"/>
          <a:lstStyle/>
          <a:p>
            <a:pPr indent="0" marL="0">
              <a:buNone/>
            </a:pPr>
            <a:r>
              <a:rPr lang="en-US" sz="750" dirty="0">
                <a:solidFill>
                  <a:srgbClr val="6B7280"/>
                </a:solidFill>
                <a:latin typeface="Arial" pitchFamily="34" charset="0"/>
                <a:ea typeface="Arial" pitchFamily="34" charset="-122"/>
                <a:cs typeface="Arial" pitchFamily="34" charset="-120"/>
              </a:rPr>
              <a:t>Prompt Ecology, Reverse Engineering —Embodied Agencies</a:t>
            </a:r>
            <a:endParaRPr lang="en-US" sz="750" dirty="0"/>
          </a:p>
        </p:txBody>
      </p:sp>
      <p:sp>
        <p:nvSpPr>
          <p:cNvPr id="12" name="Text 8"/>
          <p:cNvSpPr/>
          <p:nvPr/>
        </p:nvSpPr>
        <p:spPr>
          <a:xfrm>
            <a:off x="11064240" y="6473952"/>
            <a:ext cx="548640" cy="228600"/>
          </a:xfrm>
          <a:prstGeom prst="rect">
            <a:avLst/>
          </a:prstGeom>
          <a:noFill/>
          <a:ln/>
        </p:spPr>
        <p:txBody>
          <a:bodyPr wrap="square" lIns="0" tIns="0" rIns="0" bIns="0" rtlCol="0" anchor="ctr"/>
          <a:lstStyle/>
          <a:p>
            <a:pPr algn="r" indent="0" marL="0">
              <a:buNone/>
            </a:pPr>
            <a:r>
              <a:rPr lang="en-US" sz="850" b="1" dirty="0">
                <a:solidFill>
                  <a:srgbClr val="1957D2"/>
                </a:solidFill>
                <a:latin typeface="Arial" pitchFamily="34" charset="0"/>
                <a:ea typeface="Arial" pitchFamily="34" charset="-122"/>
                <a:cs typeface="Arial" pitchFamily="34" charset="-120"/>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10652760" y="301752"/>
            <a:ext cx="960120" cy="960120"/>
          </a:xfrm>
          <a:prstGeom prst="rect">
            <a:avLst/>
          </a:prstGeom>
          <a:solidFill>
            <a:srgbClr val="1957D2"/>
          </a:solidFill>
          <a:ln w="12700">
            <a:solidFill>
              <a:srgbClr val="1957D2"/>
            </a:solidFill>
            <a:prstDash val="solid"/>
          </a:ln>
        </p:spPr>
      </p:sp>
      <p:sp>
        <p:nvSpPr>
          <p:cNvPr id="3" name="Text 1"/>
          <p:cNvSpPr/>
          <p:nvPr/>
        </p:nvSpPr>
        <p:spPr>
          <a:xfrm>
            <a:off x="621792" y="548640"/>
            <a:ext cx="3840480" cy="228600"/>
          </a:xfrm>
          <a:prstGeom prst="rect">
            <a:avLst/>
          </a:prstGeom>
          <a:noFill/>
          <a:ln/>
        </p:spPr>
        <p:txBody>
          <a:bodyPr wrap="square" lIns="0" tIns="0" rIns="0" bIns="0" rtlCol="0" anchor="ctr"/>
          <a:lstStyle/>
          <a:p>
            <a:pPr indent="0" marL="0">
              <a:buNone/>
            </a:pPr>
            <a:r>
              <a:rPr lang="en-US" sz="950" b="1" dirty="0">
                <a:solidFill>
                  <a:srgbClr val="1957D2"/>
                </a:solidFill>
                <a:latin typeface="Arial" pitchFamily="34" charset="0"/>
                <a:ea typeface="Arial" pitchFamily="34" charset="-122"/>
                <a:cs typeface="Arial" pitchFamily="34" charset="-120"/>
              </a:rPr>
              <a:t>RECOMMENDATIONS</a:t>
            </a:r>
            <a:endParaRPr lang="en-US" sz="950" dirty="0"/>
          </a:p>
        </p:txBody>
      </p:sp>
      <p:sp>
        <p:nvSpPr>
          <p:cNvPr id="4" name="Shape 2"/>
          <p:cNvSpPr/>
          <p:nvPr/>
        </p:nvSpPr>
        <p:spPr>
          <a:xfrm>
            <a:off x="621792" y="896112"/>
            <a:ext cx="731520" cy="0"/>
          </a:xfrm>
          <a:prstGeom prst="line">
            <a:avLst/>
          </a:prstGeom>
          <a:noFill/>
          <a:ln w="25400">
            <a:solidFill>
              <a:srgbClr val="1957D2"/>
            </a:solidFill>
            <a:prstDash val="solid"/>
          </a:ln>
        </p:spPr>
      </p:sp>
      <p:sp>
        <p:nvSpPr>
          <p:cNvPr id="5" name="Text 3"/>
          <p:cNvSpPr/>
          <p:nvPr/>
        </p:nvSpPr>
        <p:spPr>
          <a:xfrm>
            <a:off x="621792" y="1005840"/>
            <a:ext cx="7040880" cy="384048"/>
          </a:xfrm>
          <a:prstGeom prst="rect">
            <a:avLst/>
          </a:prstGeom>
          <a:noFill/>
          <a:ln/>
        </p:spPr>
        <p:txBody>
          <a:bodyPr wrap="square" lIns="0" tIns="0" rIns="0" bIns="0" rtlCol="0" anchor="ctr">
            <a:normAutofit/>
          </a:bodyPr>
          <a:lstStyle/>
          <a:p>
            <a:pPr indent="0" marL="0">
              <a:buNone/>
            </a:pPr>
            <a:r>
              <a:rPr lang="en-US" sz="3100" b="1" dirty="0">
                <a:solidFill>
                  <a:srgbClr val="111318"/>
                </a:solidFill>
                <a:latin typeface="Arial" pitchFamily="34" charset="0"/>
                <a:ea typeface="Arial" pitchFamily="34" charset="-122"/>
                <a:cs typeface="Arial" pitchFamily="34" charset="-120"/>
              </a:rPr>
              <a:t>Implementation next steps</a:t>
            </a:r>
            <a:endParaRPr lang="en-US" sz="3100" dirty="0"/>
          </a:p>
        </p:txBody>
      </p:sp>
      <p:sp>
        <p:nvSpPr>
          <p:cNvPr id="6" name="Text 4"/>
          <p:cNvSpPr/>
          <p:nvPr/>
        </p:nvSpPr>
        <p:spPr>
          <a:xfrm>
            <a:off x="777240" y="1508760"/>
            <a:ext cx="411480" cy="256032"/>
          </a:xfrm>
          <a:prstGeom prst="rect">
            <a:avLst/>
          </a:prstGeom>
          <a:noFill/>
          <a:ln/>
        </p:spPr>
        <p:txBody>
          <a:bodyPr wrap="square" lIns="0" tIns="0" rIns="0" bIns="0" rtlCol="0" anchor="ctr"/>
          <a:lstStyle/>
          <a:p>
            <a:pPr algn="l" indent="0" marL="0">
              <a:buNone/>
            </a:pPr>
            <a:r>
              <a:rPr lang="en-US" sz="1300" b="1" dirty="0">
                <a:solidFill>
                  <a:srgbClr val="1957D2"/>
                </a:solidFill>
                <a:latin typeface="Arial" pitchFamily="34" charset="0"/>
                <a:ea typeface="Arial" pitchFamily="34" charset="-122"/>
                <a:cs typeface="Arial" pitchFamily="34" charset="-120"/>
              </a:rPr>
              <a:t>01</a:t>
            </a:r>
            <a:endParaRPr lang="en-US" sz="1300" dirty="0"/>
          </a:p>
        </p:txBody>
      </p:sp>
      <p:sp>
        <p:nvSpPr>
          <p:cNvPr id="7" name="Text 5"/>
          <p:cNvSpPr/>
          <p:nvPr/>
        </p:nvSpPr>
        <p:spPr>
          <a:xfrm>
            <a:off x="1280160" y="1508760"/>
            <a:ext cx="8961120" cy="411480"/>
          </a:xfrm>
          <a:prstGeom prst="rect">
            <a:avLst/>
          </a:prstGeom>
          <a:noFill/>
          <a:ln/>
        </p:spPr>
        <p:txBody>
          <a:bodyPr wrap="square" lIns="635" tIns="635" rIns="635" bIns="635" rtlCol="0" anchor="t">
            <a:normAutofit/>
          </a:bodyPr>
          <a:lstStyle/>
          <a:p>
            <a:pPr indent="0" marL="0">
              <a:buNone/>
            </a:pPr>
            <a:r>
              <a:rPr lang="en-US" sz="1600" dirty="0">
                <a:solidFill>
                  <a:srgbClr val="4E5868"/>
                </a:solidFill>
                <a:latin typeface="Arial" pitchFamily="34" charset="0"/>
                <a:ea typeface="Arial" pitchFamily="34" charset="-122"/>
                <a:cs typeface="Arial" pitchFamily="34" charset="-120"/>
              </a:rPr>
              <a:t>Adopt compact JSON as the machine-interchange default.</a:t>
            </a:r>
            <a:endParaRPr lang="en-US" sz="1600" dirty="0"/>
          </a:p>
        </p:txBody>
      </p:sp>
      <p:sp>
        <p:nvSpPr>
          <p:cNvPr id="8" name="Text 6"/>
          <p:cNvSpPr/>
          <p:nvPr/>
        </p:nvSpPr>
        <p:spPr>
          <a:xfrm>
            <a:off x="777240" y="2258568"/>
            <a:ext cx="411480" cy="256032"/>
          </a:xfrm>
          <a:prstGeom prst="rect">
            <a:avLst/>
          </a:prstGeom>
          <a:noFill/>
          <a:ln/>
        </p:spPr>
        <p:txBody>
          <a:bodyPr wrap="square" lIns="0" tIns="0" rIns="0" bIns="0" rtlCol="0" anchor="ctr"/>
          <a:lstStyle/>
          <a:p>
            <a:pPr algn="l" indent="0" marL="0">
              <a:buNone/>
            </a:pPr>
            <a:r>
              <a:rPr lang="en-US" sz="1300" b="1" dirty="0">
                <a:solidFill>
                  <a:srgbClr val="1957D2"/>
                </a:solidFill>
                <a:latin typeface="Arial" pitchFamily="34" charset="0"/>
                <a:ea typeface="Arial" pitchFamily="34" charset="-122"/>
                <a:cs typeface="Arial" pitchFamily="34" charset="-120"/>
              </a:rPr>
              <a:t>02</a:t>
            </a:r>
            <a:endParaRPr lang="en-US" sz="1300" dirty="0"/>
          </a:p>
        </p:txBody>
      </p:sp>
      <p:sp>
        <p:nvSpPr>
          <p:cNvPr id="9" name="Text 7"/>
          <p:cNvSpPr/>
          <p:nvPr/>
        </p:nvSpPr>
        <p:spPr>
          <a:xfrm>
            <a:off x="1280160" y="2258568"/>
            <a:ext cx="8961120" cy="411480"/>
          </a:xfrm>
          <a:prstGeom prst="rect">
            <a:avLst/>
          </a:prstGeom>
          <a:noFill/>
          <a:ln/>
        </p:spPr>
        <p:txBody>
          <a:bodyPr wrap="square" lIns="635" tIns="635" rIns="635" bIns="635" rtlCol="0" anchor="t">
            <a:normAutofit/>
          </a:bodyPr>
          <a:lstStyle/>
          <a:p>
            <a:pPr indent="0" marL="0">
              <a:buNone/>
            </a:pPr>
            <a:r>
              <a:rPr lang="en-US" sz="1600" dirty="0">
                <a:solidFill>
                  <a:srgbClr val="4E5868"/>
                </a:solidFill>
                <a:latin typeface="Arial" pitchFamily="34" charset="0"/>
                <a:ea typeface="Arial" pitchFamily="34" charset="-122"/>
                <a:cs typeface="Arial" pitchFamily="34" charset="-120"/>
              </a:rPr>
              <a:t>Use CSV/TSV for validated flat-table inputs.</a:t>
            </a:r>
            <a:endParaRPr lang="en-US" sz="1600" dirty="0"/>
          </a:p>
        </p:txBody>
      </p:sp>
      <p:sp>
        <p:nvSpPr>
          <p:cNvPr id="10" name="Text 8"/>
          <p:cNvSpPr/>
          <p:nvPr/>
        </p:nvSpPr>
        <p:spPr>
          <a:xfrm>
            <a:off x="777240" y="3008376"/>
            <a:ext cx="411480" cy="256032"/>
          </a:xfrm>
          <a:prstGeom prst="rect">
            <a:avLst/>
          </a:prstGeom>
          <a:noFill/>
          <a:ln/>
        </p:spPr>
        <p:txBody>
          <a:bodyPr wrap="square" lIns="0" tIns="0" rIns="0" bIns="0" rtlCol="0" anchor="ctr"/>
          <a:lstStyle/>
          <a:p>
            <a:pPr algn="l" indent="0" marL="0">
              <a:buNone/>
            </a:pPr>
            <a:r>
              <a:rPr lang="en-US" sz="1300" b="1" dirty="0">
                <a:solidFill>
                  <a:srgbClr val="1957D2"/>
                </a:solidFill>
                <a:latin typeface="Arial" pitchFamily="34" charset="0"/>
                <a:ea typeface="Arial" pitchFamily="34" charset="-122"/>
                <a:cs typeface="Arial" pitchFamily="34" charset="-120"/>
              </a:rPr>
              <a:t>03</a:t>
            </a:r>
            <a:endParaRPr lang="en-US" sz="1300" dirty="0"/>
          </a:p>
        </p:txBody>
      </p:sp>
      <p:sp>
        <p:nvSpPr>
          <p:cNvPr id="11" name="Text 9"/>
          <p:cNvSpPr/>
          <p:nvPr/>
        </p:nvSpPr>
        <p:spPr>
          <a:xfrm>
            <a:off x="1280160" y="3008376"/>
            <a:ext cx="8961120" cy="411480"/>
          </a:xfrm>
          <a:prstGeom prst="rect">
            <a:avLst/>
          </a:prstGeom>
          <a:noFill/>
          <a:ln/>
        </p:spPr>
        <p:txBody>
          <a:bodyPr wrap="square" lIns="635" tIns="635" rIns="635" bIns="635" rtlCol="0" anchor="t">
            <a:normAutofit/>
          </a:bodyPr>
          <a:lstStyle/>
          <a:p>
            <a:pPr indent="0" marL="0">
              <a:buNone/>
            </a:pPr>
            <a:r>
              <a:rPr lang="en-US" sz="1600" dirty="0">
                <a:solidFill>
                  <a:srgbClr val="4E5868"/>
                </a:solidFill>
                <a:latin typeface="Arial" pitchFamily="34" charset="0"/>
                <a:ea typeface="Arial" pitchFamily="34" charset="-122"/>
                <a:cs typeface="Arial" pitchFamily="34" charset="-120"/>
              </a:rPr>
              <a:t>Benchmark TOON only for large uniform object arrays.</a:t>
            </a:r>
            <a:endParaRPr lang="en-US" sz="1600" dirty="0"/>
          </a:p>
        </p:txBody>
      </p:sp>
      <p:sp>
        <p:nvSpPr>
          <p:cNvPr id="12" name="Text 10"/>
          <p:cNvSpPr/>
          <p:nvPr/>
        </p:nvSpPr>
        <p:spPr>
          <a:xfrm>
            <a:off x="777240" y="3758184"/>
            <a:ext cx="411480" cy="256032"/>
          </a:xfrm>
          <a:prstGeom prst="rect">
            <a:avLst/>
          </a:prstGeom>
          <a:noFill/>
          <a:ln/>
        </p:spPr>
        <p:txBody>
          <a:bodyPr wrap="square" lIns="0" tIns="0" rIns="0" bIns="0" rtlCol="0" anchor="ctr"/>
          <a:lstStyle/>
          <a:p>
            <a:pPr algn="l" indent="0" marL="0">
              <a:buNone/>
            </a:pPr>
            <a:r>
              <a:rPr lang="en-US" sz="1300" b="1" dirty="0">
                <a:solidFill>
                  <a:srgbClr val="1957D2"/>
                </a:solidFill>
                <a:latin typeface="Arial" pitchFamily="34" charset="0"/>
                <a:ea typeface="Arial" pitchFamily="34" charset="-122"/>
                <a:cs typeface="Arial" pitchFamily="34" charset="-120"/>
              </a:rPr>
              <a:t>04</a:t>
            </a:r>
            <a:endParaRPr lang="en-US" sz="1300" dirty="0"/>
          </a:p>
        </p:txBody>
      </p:sp>
      <p:sp>
        <p:nvSpPr>
          <p:cNvPr id="13" name="Text 11"/>
          <p:cNvSpPr/>
          <p:nvPr/>
        </p:nvSpPr>
        <p:spPr>
          <a:xfrm>
            <a:off x="1280160" y="3758184"/>
            <a:ext cx="8961120" cy="411480"/>
          </a:xfrm>
          <a:prstGeom prst="rect">
            <a:avLst/>
          </a:prstGeom>
          <a:noFill/>
          <a:ln/>
        </p:spPr>
        <p:txBody>
          <a:bodyPr wrap="square" lIns="635" tIns="635" rIns="635" bIns="635" rtlCol="0" anchor="t">
            <a:normAutofit/>
          </a:bodyPr>
          <a:lstStyle/>
          <a:p>
            <a:pPr indent="0" marL="0">
              <a:buNone/>
            </a:pPr>
            <a:r>
              <a:rPr lang="en-US" sz="1600" dirty="0">
                <a:solidFill>
                  <a:srgbClr val="4E5868"/>
                </a:solidFill>
                <a:latin typeface="Arial" pitchFamily="34" charset="0"/>
                <a:ea typeface="Arial" pitchFamily="34" charset="-122"/>
                <a:cs typeface="Arial" pitchFamily="34" charset="-120"/>
              </a:rPr>
              <a:t>Lock structured-output baselines with JSON Schema or strict tool calls.</a:t>
            </a:r>
            <a:endParaRPr lang="en-US" sz="1600" dirty="0"/>
          </a:p>
        </p:txBody>
      </p:sp>
      <p:sp>
        <p:nvSpPr>
          <p:cNvPr id="14" name="Text 12"/>
          <p:cNvSpPr/>
          <p:nvPr/>
        </p:nvSpPr>
        <p:spPr>
          <a:xfrm>
            <a:off x="777240" y="4507992"/>
            <a:ext cx="411480" cy="256032"/>
          </a:xfrm>
          <a:prstGeom prst="rect">
            <a:avLst/>
          </a:prstGeom>
          <a:noFill/>
          <a:ln/>
        </p:spPr>
        <p:txBody>
          <a:bodyPr wrap="square" lIns="0" tIns="0" rIns="0" bIns="0" rtlCol="0" anchor="ctr"/>
          <a:lstStyle/>
          <a:p>
            <a:pPr algn="l" indent="0" marL="0">
              <a:buNone/>
            </a:pPr>
            <a:r>
              <a:rPr lang="en-US" sz="1300" b="1" dirty="0">
                <a:solidFill>
                  <a:srgbClr val="1957D2"/>
                </a:solidFill>
                <a:latin typeface="Arial" pitchFamily="34" charset="0"/>
                <a:ea typeface="Arial" pitchFamily="34" charset="-122"/>
                <a:cs typeface="Arial" pitchFamily="34" charset="-120"/>
              </a:rPr>
              <a:t>05</a:t>
            </a:r>
            <a:endParaRPr lang="en-US" sz="1300" dirty="0"/>
          </a:p>
        </p:txBody>
      </p:sp>
      <p:sp>
        <p:nvSpPr>
          <p:cNvPr id="15" name="Text 13"/>
          <p:cNvSpPr/>
          <p:nvPr/>
        </p:nvSpPr>
        <p:spPr>
          <a:xfrm>
            <a:off x="1280160" y="4507992"/>
            <a:ext cx="8961120" cy="411480"/>
          </a:xfrm>
          <a:prstGeom prst="rect">
            <a:avLst/>
          </a:prstGeom>
          <a:noFill/>
          <a:ln/>
        </p:spPr>
        <p:txBody>
          <a:bodyPr wrap="square" lIns="635" tIns="635" rIns="635" bIns="635" rtlCol="0" anchor="t">
            <a:normAutofit/>
          </a:bodyPr>
          <a:lstStyle/>
          <a:p>
            <a:pPr indent="0" marL="0">
              <a:buNone/>
            </a:pPr>
            <a:r>
              <a:rPr lang="en-US" sz="1600" b="1" dirty="0">
                <a:solidFill>
                  <a:srgbClr val="111318"/>
                </a:solidFill>
                <a:latin typeface="Arial" pitchFamily="34" charset="0"/>
                <a:ea typeface="Arial" pitchFamily="34" charset="-122"/>
                <a:cs typeface="Arial" pitchFamily="34" charset="-120"/>
              </a:rPr>
              <a:t>Record serializer version, tokenizer/count endpoint, payload hash, model, price date, parse failures, retries, latency, and total billed tokens.</a:t>
            </a:r>
            <a:endParaRPr lang="en-US" sz="1600" dirty="0"/>
          </a:p>
        </p:txBody>
      </p:sp>
      <p:sp>
        <p:nvSpPr>
          <p:cNvPr id="16" name="Shape 14"/>
          <p:cNvSpPr/>
          <p:nvPr/>
        </p:nvSpPr>
        <p:spPr>
          <a:xfrm>
            <a:off x="777240" y="5532120"/>
            <a:ext cx="9921240" cy="0"/>
          </a:xfrm>
          <a:prstGeom prst="line">
            <a:avLst/>
          </a:prstGeom>
          <a:noFill/>
          <a:ln w="15240">
            <a:solidFill>
              <a:srgbClr val="1957D2"/>
            </a:solidFill>
            <a:prstDash val="solid"/>
          </a:ln>
        </p:spPr>
      </p:sp>
      <p:sp>
        <p:nvSpPr>
          <p:cNvPr id="17" name="Text 15"/>
          <p:cNvSpPr/>
          <p:nvPr/>
        </p:nvSpPr>
        <p:spPr>
          <a:xfrm>
            <a:off x="777240" y="5687568"/>
            <a:ext cx="9784080" cy="228600"/>
          </a:xfrm>
          <a:prstGeom prst="rect">
            <a:avLst/>
          </a:prstGeom>
          <a:noFill/>
          <a:ln/>
        </p:spPr>
        <p:txBody>
          <a:bodyPr wrap="square" lIns="635" tIns="635" rIns="635" bIns="635" rtlCol="0" anchor="t">
            <a:normAutofit/>
          </a:bodyPr>
          <a:lstStyle/>
          <a:p>
            <a:pPr indent="0" marL="0">
              <a:buNone/>
            </a:pPr>
            <a:r>
              <a:rPr lang="en-US" sz="1550" b="1" dirty="0">
                <a:solidFill>
                  <a:srgbClr val="111318"/>
                </a:solidFill>
                <a:latin typeface="Arial" pitchFamily="34" charset="0"/>
                <a:ea typeface="Arial" pitchFamily="34" charset="-122"/>
                <a:cs typeface="Arial" pitchFamily="34" charset="-120"/>
              </a:rPr>
              <a:t>Close: optimize notation only after data selection, benchmark discipline, and output reliability are already controlled.</a:t>
            </a:r>
            <a:endParaRPr lang="en-US" sz="1550" dirty="0"/>
          </a:p>
        </p:txBody>
      </p:sp>
      <p:sp>
        <p:nvSpPr>
          <p:cNvPr id="18" name="Shape 16"/>
          <p:cNvSpPr/>
          <p:nvPr/>
        </p:nvSpPr>
        <p:spPr>
          <a:xfrm>
            <a:off x="594360" y="6428232"/>
            <a:ext cx="10835640" cy="0"/>
          </a:xfrm>
          <a:prstGeom prst="line">
            <a:avLst/>
          </a:prstGeom>
          <a:noFill/>
          <a:ln w="8890">
            <a:solidFill>
              <a:srgbClr val="CBD3DF"/>
            </a:solidFill>
            <a:prstDash val="solid"/>
          </a:ln>
        </p:spPr>
      </p:sp>
      <p:pic>
        <p:nvPicPr>
          <p:cNvPr id="19" name="Image 0" descr="/mnt/data/tokenomics_assets/logo_footer.png">    </p:cNvPr>
          <p:cNvPicPr>
            <a:picLocks noChangeAspect="1"/>
          </p:cNvPicPr>
          <p:nvPr/>
        </p:nvPicPr>
        <p:blipFill>
          <a:blip r:embed="rId1"/>
          <a:stretch>
            <a:fillRect/>
          </a:stretch>
        </p:blipFill>
        <p:spPr>
          <a:xfrm>
            <a:off x="865280" y="6510528"/>
            <a:ext cx="820615" cy="228600"/>
          </a:xfrm>
          <a:prstGeom prst="rect">
            <a:avLst/>
          </a:prstGeom>
        </p:spPr>
      </p:pic>
      <p:sp>
        <p:nvSpPr>
          <p:cNvPr id="20" name="Text 17"/>
          <p:cNvSpPr/>
          <p:nvPr/>
        </p:nvSpPr>
        <p:spPr>
          <a:xfrm>
            <a:off x="2057400" y="6510528"/>
            <a:ext cx="3931920" cy="182880"/>
          </a:xfrm>
          <a:prstGeom prst="rect">
            <a:avLst/>
          </a:prstGeom>
          <a:noFill/>
          <a:ln/>
        </p:spPr>
        <p:txBody>
          <a:bodyPr wrap="square" lIns="0" tIns="0" rIns="0" bIns="0" rtlCol="0" anchor="ctr"/>
          <a:lstStyle/>
          <a:p>
            <a:pPr indent="0" marL="0">
              <a:buNone/>
            </a:pPr>
            <a:r>
              <a:rPr lang="en-US" sz="750" dirty="0">
                <a:solidFill>
                  <a:srgbClr val="6B7280"/>
                </a:solidFill>
                <a:latin typeface="Arial" pitchFamily="34" charset="0"/>
                <a:ea typeface="Arial" pitchFamily="34" charset="-122"/>
                <a:cs typeface="Arial" pitchFamily="34" charset="-120"/>
              </a:rPr>
              <a:t>Prompt Ecology, Reverse Engineering —Embodied Agencies</a:t>
            </a:r>
            <a:endParaRPr lang="en-US" sz="750" dirty="0"/>
          </a:p>
        </p:txBody>
      </p:sp>
      <p:sp>
        <p:nvSpPr>
          <p:cNvPr id="21" name="Text 18"/>
          <p:cNvSpPr/>
          <p:nvPr/>
        </p:nvSpPr>
        <p:spPr>
          <a:xfrm>
            <a:off x="11064240" y="6473952"/>
            <a:ext cx="548640" cy="228600"/>
          </a:xfrm>
          <a:prstGeom prst="rect">
            <a:avLst/>
          </a:prstGeom>
          <a:noFill/>
          <a:ln/>
        </p:spPr>
        <p:txBody>
          <a:bodyPr wrap="square" lIns="0" tIns="0" rIns="0" bIns="0" rtlCol="0" anchor="ctr"/>
          <a:lstStyle/>
          <a:p>
            <a:pPr algn="r" indent="0" marL="0">
              <a:buNone/>
            </a:pPr>
            <a:r>
              <a:rPr lang="en-US" sz="850" b="1" dirty="0">
                <a:solidFill>
                  <a:srgbClr val="1957D2"/>
                </a:solidFill>
                <a:latin typeface="Arial" pitchFamily="34" charset="0"/>
                <a:ea typeface="Arial" pitchFamily="34" charset="-122"/>
                <a:cs typeface="Arial" pitchFamily="34" charset="-120"/>
              </a:rPr>
              <a:t>14</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EMBLEM-NLP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Tokenomics of Data-Serialization Formats</dc:title>
  <dc:subject>Presentation deck and speaker script for The Tokenomics of Data-Serialization Formats</dc:subject>
  <dc:creator>EMBLEM-NLP</dc:creator>
  <cp:lastModifiedBy>EMBLEM-NLP</cp:lastModifiedBy>
  <cp:revision>1</cp:revision>
  <dcterms:created xsi:type="dcterms:W3CDTF">2026-06-18T23:26:24Z</dcterms:created>
  <dcterms:modified xsi:type="dcterms:W3CDTF">2026-06-18T23:26:24Z</dcterms:modified>
</cp:coreProperties>
</file>